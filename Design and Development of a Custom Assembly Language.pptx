
<file path=[Content_Types].xml><?xml version="1.0" encoding="utf-8"?>
<Types xmlns="http://schemas.openxmlformats.org/package/2006/content-types">
  <Default ContentType="image/jp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1.xml"/>
  <Override ContentType="application/vnd.openxmlformats-officedocument.presentationml.slideMaster+xml" PartName="/ppt/slideMasters/slideMaster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image/jpeg" PartName="/ppt/media/image15.jpg"/>
  <Override ContentType="image/jpeg" PartName="/ppt/media/image18.jpg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  <Override ContentType="application/vnd.openxmlformats-officedocument.presentationml.viewProps+xml" PartName="/ppt/viewProps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12192000"/>
  <p:notesSz cx="12192000" cy="6858000"/>
  <p:defaultTextStyle>
    <a:defPPr lvl="0">
      <a:defRPr kern="0"/>
    </a:defPPr>
    <a:lvl1pPr lvl="0"/>
    <a:lvl2pPr lvl="1"/>
    <a:lvl3pPr lvl="2"/>
    <a:lvl4pPr lvl="3"/>
    <a:lvl5pPr lvl="4"/>
    <a:lvl6pPr lvl="5"/>
    <a:lvl7pPr lvl="6"/>
    <a:lvl8pPr lvl="7"/>
    <a:lvl9pPr lvl="8"/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1.xml><?xml version="1.0" encoding="utf-8"?>
<a:tblStyleLst xmlns:a="http://schemas.openxmlformats.org/drawingml/2006/main" xmlns:r="http://schemas.openxmlformats.org/officeDocument/2006/relationships" def="{90651C3A-4460-11DB-9652-00E08161165F}">
  <a:tblStyle styleId="{2D5ABB26-0587-4C30-8999-92F81FD0307C}" styleName="No Style, No Grid">
    <a:wholeTbl>
      <a:tcTxStyle>
        <a:fontRef idx="minor">
          <a:scrgbClr b="0" g="0" r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1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1.xml"/><Relationship Id="rId3" Type="http://schemas.openxmlformats.org/officeDocument/2006/relationships/presProps" Target="presProps1.xml"/><Relationship Id="rId4" Type="http://schemas.openxmlformats.org/officeDocument/2006/relationships/tableStyles" Target="tableStyles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68686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68686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11/13/2025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68686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11/13/2025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68686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11/13/2025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68686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12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openxmlformats.org/officeDocument/2006/relationships/image" Target="../media/image5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457431" y="219456"/>
            <a:ext cx="667512" cy="8382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4864" y="228600"/>
            <a:ext cx="807720" cy="80772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0" y="0"/>
            <a:ext cx="12192000" cy="173735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0" y="0"/>
            <a:ext cx="12192000" cy="173355"/>
          </a:xfrm>
          <a:custGeom>
            <a:avLst/>
            <a:gdLst/>
            <a:ahLst/>
            <a:cxnLst/>
            <a:rect l="l" t="t" r="r" b="b"/>
            <a:pathLst>
              <a:path w="12192000" h="173355">
                <a:moveTo>
                  <a:pt x="0" y="173227"/>
                </a:moveTo>
                <a:lnTo>
                  <a:pt x="12192000" y="173227"/>
                </a:lnTo>
                <a:lnTo>
                  <a:pt x="12192000" y="0"/>
                </a:lnTo>
                <a:lnTo>
                  <a:pt x="0" y="0"/>
                </a:lnTo>
                <a:lnTo>
                  <a:pt x="0" y="173227"/>
                </a:lnTo>
                <a:close/>
              </a:path>
            </a:pathLst>
          </a:custGeom>
          <a:ln w="12192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0" y="6684263"/>
            <a:ext cx="12192000" cy="173736"/>
          </a:xfrm>
          <a:prstGeom prst="rect">
            <a:avLst/>
          </a:prstGeom>
        </p:spPr>
      </p:pic>
      <p:sp>
        <p:nvSpPr>
          <p:cNvPr id="21" name="bg object 21"/>
          <p:cNvSpPr/>
          <p:nvPr/>
        </p:nvSpPr>
        <p:spPr>
          <a:xfrm>
            <a:off x="0" y="6684262"/>
            <a:ext cx="12192000" cy="173355"/>
          </a:xfrm>
          <a:custGeom>
            <a:avLst/>
            <a:gdLst/>
            <a:ahLst/>
            <a:cxnLst/>
            <a:rect l="l" t="t" r="r" b="b"/>
            <a:pathLst>
              <a:path w="12192000" h="173354">
                <a:moveTo>
                  <a:pt x="0" y="173228"/>
                </a:moveTo>
                <a:lnTo>
                  <a:pt x="12192000" y="173228"/>
                </a:lnTo>
                <a:lnTo>
                  <a:pt x="12192000" y="0"/>
                </a:lnTo>
                <a:lnTo>
                  <a:pt x="0" y="0"/>
                </a:lnTo>
                <a:lnTo>
                  <a:pt x="0" y="173228"/>
                </a:lnTo>
                <a:close/>
              </a:path>
            </a:pathLst>
          </a:custGeom>
          <a:ln w="12192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2" name="bg object 22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1408664" y="140207"/>
            <a:ext cx="783335" cy="996696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0" y="100584"/>
            <a:ext cx="923544" cy="109118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057526" y="282016"/>
            <a:ext cx="6503542" cy="10325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04443" y="1589659"/>
            <a:ext cx="9050020" cy="1854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157457" y="6450279"/>
            <a:ext cx="166370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68686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 eaLnBrk="1" hangingPunct="1">
        <a:defRPr>
          <a:latin typeface="+mj-lt"/>
          <a:ea typeface="+mj-ea"/>
          <a:cs typeface="+mj-cs"/>
        </a:defRPr>
      </a:lvl1pPr>
    </p:titleStyle>
    <p:bodyStyle>
      <a:lvl1pPr marL="0" eaLnBrk="1" hangingPunct="1">
        <a:defRPr>
          <a:latin typeface="+mn-lt"/>
          <a:ea typeface="+mn-ea"/>
          <a:cs typeface="+mn-cs"/>
        </a:defRPr>
      </a:lvl1pPr>
      <a:lvl2pPr marL="457200" eaLnBrk="1" hangingPunct="1">
        <a:defRPr>
          <a:latin typeface="+mn-lt"/>
          <a:ea typeface="+mn-ea"/>
          <a:cs typeface="+mn-cs"/>
        </a:defRPr>
      </a:lvl2pPr>
      <a:lvl3pPr marL="914400" eaLnBrk="1" hangingPunct="1">
        <a:defRPr>
          <a:latin typeface="+mn-lt"/>
          <a:ea typeface="+mn-ea"/>
          <a:cs typeface="+mn-cs"/>
        </a:defRPr>
      </a:lvl3pPr>
      <a:lvl4pPr marL="1371600" eaLnBrk="1" hangingPunct="1">
        <a:defRPr>
          <a:latin typeface="+mn-lt"/>
          <a:ea typeface="+mn-ea"/>
          <a:cs typeface="+mn-cs"/>
        </a:defRPr>
      </a:lvl4pPr>
      <a:lvl5pPr marL="1828800" eaLnBrk="1" hangingPunct="1">
        <a:defRPr>
          <a:latin typeface="+mn-lt"/>
          <a:ea typeface="+mn-ea"/>
          <a:cs typeface="+mn-cs"/>
        </a:defRPr>
      </a:lvl5pPr>
      <a:lvl6pPr marL="2286000" eaLnBrk="1" hangingPunct="1">
        <a:defRPr>
          <a:latin typeface="+mn-lt"/>
          <a:ea typeface="+mn-ea"/>
          <a:cs typeface="+mn-cs"/>
        </a:defRPr>
      </a:lvl6pPr>
      <a:lvl7pPr marL="2743200" eaLnBrk="1" hangingPunct="1">
        <a:defRPr>
          <a:latin typeface="+mn-lt"/>
          <a:ea typeface="+mn-ea"/>
          <a:cs typeface="+mn-cs"/>
        </a:defRPr>
      </a:lvl7pPr>
      <a:lvl8pPr marL="3200400" eaLnBrk="1" hangingPunct="1">
        <a:defRPr>
          <a:latin typeface="+mn-lt"/>
          <a:ea typeface="+mn-ea"/>
          <a:cs typeface="+mn-cs"/>
        </a:defRPr>
      </a:lvl8pPr>
      <a:lvl9pPr marL="3657600" eaLnBrk="1" hangingPunct="1">
        <a:defRPr>
          <a:latin typeface="+mn-lt"/>
          <a:ea typeface="+mn-ea"/>
          <a:cs typeface="+mn-cs"/>
        </a:defRPr>
      </a:lvl9pPr>
    </p:bodyStyle>
    <p:otherStyle>
      <a:lvl1pPr marL="0" eaLnBrk="1" hangingPunct="1">
        <a:defRPr>
          <a:latin typeface="+mn-lt"/>
          <a:ea typeface="+mn-ea"/>
          <a:cs typeface="+mn-cs"/>
        </a:defRPr>
      </a:lvl1pPr>
      <a:lvl2pPr marL="457200" eaLnBrk="1" hangingPunct="1">
        <a:defRPr>
          <a:latin typeface="+mn-lt"/>
          <a:ea typeface="+mn-ea"/>
          <a:cs typeface="+mn-cs"/>
        </a:defRPr>
      </a:lvl2pPr>
      <a:lvl3pPr marL="914400" eaLnBrk="1" hangingPunct="1">
        <a:defRPr>
          <a:latin typeface="+mn-lt"/>
          <a:ea typeface="+mn-ea"/>
          <a:cs typeface="+mn-cs"/>
        </a:defRPr>
      </a:lvl3pPr>
      <a:lvl4pPr marL="1371600" eaLnBrk="1" hangingPunct="1">
        <a:defRPr>
          <a:latin typeface="+mn-lt"/>
          <a:ea typeface="+mn-ea"/>
          <a:cs typeface="+mn-cs"/>
        </a:defRPr>
      </a:lvl4pPr>
      <a:lvl5pPr marL="1828800" eaLnBrk="1" hangingPunct="1">
        <a:defRPr>
          <a:latin typeface="+mn-lt"/>
          <a:ea typeface="+mn-ea"/>
          <a:cs typeface="+mn-cs"/>
        </a:defRPr>
      </a:lvl5pPr>
      <a:lvl6pPr marL="2286000" eaLnBrk="1" hangingPunct="1">
        <a:defRPr>
          <a:latin typeface="+mn-lt"/>
          <a:ea typeface="+mn-ea"/>
          <a:cs typeface="+mn-cs"/>
        </a:defRPr>
      </a:lvl6pPr>
      <a:lvl7pPr marL="2743200" eaLnBrk="1" hangingPunct="1">
        <a:defRPr>
          <a:latin typeface="+mn-lt"/>
          <a:ea typeface="+mn-ea"/>
          <a:cs typeface="+mn-cs"/>
        </a:defRPr>
      </a:lvl7pPr>
      <a:lvl8pPr marL="3200400" eaLnBrk="1" hangingPunct="1">
        <a:defRPr>
          <a:latin typeface="+mn-lt"/>
          <a:ea typeface="+mn-ea"/>
          <a:cs typeface="+mn-cs"/>
        </a:defRPr>
      </a:lvl8pPr>
      <a:lvl9pPr marL="3657600" eaLnBrk="1" hangingPunct="1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open.oregonstate.education/generalmicrobiology/chapter/introduction-to-viruses/" TargetMode="External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eativecommons.org/licenses/by-nc/3.0/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6596" y="1685544"/>
            <a:ext cx="9601404" cy="774571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3262629" marR="5080" indent="-3250565">
              <a:lnSpc>
                <a:spcPts val="2810"/>
              </a:lnSpc>
              <a:spcBef>
                <a:spcPts val="440"/>
              </a:spcBef>
            </a:pPr>
            <a:r>
              <a:rPr sz="2600" spc="-20" dirty="0">
                <a:latin typeface="Times New Roman"/>
                <a:cs typeface="Times New Roman"/>
              </a:rPr>
              <a:t>Design</a:t>
            </a:r>
            <a:r>
              <a:rPr sz="2600" spc="-14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and</a:t>
            </a:r>
            <a:r>
              <a:rPr sz="2600" spc="-16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Development</a:t>
            </a:r>
            <a:r>
              <a:rPr sz="2600" spc="-1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of</a:t>
            </a:r>
            <a:r>
              <a:rPr sz="2600" spc="-16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Times New Roman"/>
                <a:cs typeface="Times New Roman"/>
              </a:rPr>
              <a:t>a</a:t>
            </a:r>
            <a:r>
              <a:rPr sz="2600" spc="-150" dirty="0">
                <a:latin typeface="Times New Roman"/>
                <a:cs typeface="Times New Roman"/>
              </a:rPr>
              <a:t> </a:t>
            </a:r>
            <a:r>
              <a:rPr sz="2600" spc="-40" dirty="0">
                <a:latin typeface="Times New Roman"/>
                <a:cs typeface="Times New Roman"/>
              </a:rPr>
              <a:t>Custom</a:t>
            </a:r>
            <a:r>
              <a:rPr sz="2600" spc="-1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Assembly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Language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Compiler </a:t>
            </a:r>
            <a:r>
              <a:rPr sz="2600" dirty="0">
                <a:latin typeface="Times New Roman"/>
                <a:cs typeface="Times New Roman"/>
              </a:rPr>
              <a:t>and</a:t>
            </a:r>
            <a:r>
              <a:rPr sz="2600" spc="-10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Execution</a:t>
            </a:r>
            <a:r>
              <a:rPr sz="2600" spc="-14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Engine</a:t>
            </a:r>
            <a:endParaRPr sz="26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0491" y="3786032"/>
            <a:ext cx="4041140" cy="2164080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sz="1800" b="1" spc="-10" dirty="0">
                <a:solidFill>
                  <a:srgbClr val="FF33CC"/>
                </a:solidFill>
                <a:latin typeface="Cambria"/>
                <a:cs typeface="Cambria"/>
              </a:rPr>
              <a:t>Project</a:t>
            </a:r>
            <a:r>
              <a:rPr sz="1800" b="1" spc="-150" dirty="0">
                <a:solidFill>
                  <a:srgbClr val="FF33CC"/>
                </a:solidFill>
                <a:latin typeface="Cambria"/>
                <a:cs typeface="Cambria"/>
              </a:rPr>
              <a:t> </a:t>
            </a:r>
            <a:r>
              <a:rPr sz="1800" b="1" spc="-10" dirty="0">
                <a:solidFill>
                  <a:srgbClr val="FF33CC"/>
                </a:solidFill>
                <a:latin typeface="Cambria"/>
                <a:cs typeface="Cambria"/>
              </a:rPr>
              <a:t>Supervisor</a:t>
            </a:r>
            <a:endParaRPr sz="18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800" b="1" dirty="0">
                <a:solidFill>
                  <a:srgbClr val="6D2D9F"/>
                </a:solidFill>
                <a:latin typeface="Cambria"/>
                <a:cs typeface="Cambria"/>
              </a:rPr>
              <a:t>Dr</a:t>
            </a:r>
            <a:r>
              <a:rPr sz="1800" b="1" spc="20" dirty="0">
                <a:solidFill>
                  <a:srgbClr val="6D2D9F"/>
                </a:solidFill>
                <a:latin typeface="Cambria"/>
                <a:cs typeface="Cambria"/>
              </a:rPr>
              <a:t> </a:t>
            </a:r>
            <a:r>
              <a:rPr lang="en-US" b="1" spc="20" dirty="0">
                <a:solidFill>
                  <a:srgbClr val="6D2D9F"/>
                </a:solidFill>
                <a:latin typeface="Cambria"/>
                <a:cs typeface="Cambria"/>
              </a:rPr>
              <a:t>Senthil </a:t>
            </a:r>
            <a:r>
              <a:rPr lang="en-US" b="1" spc="20" dirty="0" err="1">
                <a:solidFill>
                  <a:srgbClr val="6D2D9F"/>
                </a:solidFill>
                <a:latin typeface="Cambria"/>
                <a:cs typeface="Cambria"/>
              </a:rPr>
              <a:t>vadivu.S</a:t>
            </a:r>
            <a:endParaRPr sz="18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sz="1800" b="1" dirty="0">
                <a:solidFill>
                  <a:srgbClr val="6D2D9F"/>
                </a:solidFill>
                <a:latin typeface="Cambria"/>
                <a:cs typeface="Cambria"/>
              </a:rPr>
              <a:t>Dr</a:t>
            </a:r>
            <a:r>
              <a:rPr sz="1800" b="1" spc="120" dirty="0">
                <a:solidFill>
                  <a:srgbClr val="6D2D9F"/>
                </a:solidFill>
                <a:latin typeface="Cambria"/>
                <a:cs typeface="Cambria"/>
              </a:rPr>
              <a:t> </a:t>
            </a:r>
            <a:r>
              <a:rPr sz="1800" b="1" spc="-10" dirty="0">
                <a:solidFill>
                  <a:srgbClr val="6D2D9F"/>
                </a:solidFill>
                <a:latin typeface="Cambria"/>
                <a:cs typeface="Cambria"/>
              </a:rPr>
              <a:t>Kumaragurubaran</a:t>
            </a:r>
            <a:r>
              <a:rPr sz="1800" b="1" spc="45" dirty="0">
                <a:solidFill>
                  <a:srgbClr val="6D2D9F"/>
                </a:solidFill>
                <a:latin typeface="Cambria"/>
                <a:cs typeface="Cambria"/>
              </a:rPr>
              <a:t> </a:t>
            </a:r>
            <a:r>
              <a:rPr sz="1800" b="1" spc="-50" dirty="0">
                <a:solidFill>
                  <a:srgbClr val="6D2D9F"/>
                </a:solidFill>
                <a:latin typeface="Cambria"/>
                <a:cs typeface="Cambria"/>
              </a:rPr>
              <a:t>T</a:t>
            </a:r>
            <a:endParaRPr sz="18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1800" b="1" spc="-10" dirty="0">
                <a:solidFill>
                  <a:srgbClr val="FF33CC"/>
                </a:solidFill>
                <a:latin typeface="Cambria"/>
                <a:cs typeface="Cambria"/>
              </a:rPr>
              <a:t>Professor</a:t>
            </a:r>
            <a:endParaRPr sz="1800" dirty="0">
              <a:solidFill>
                <a:srgbClr val="FF33CC"/>
              </a:solidFill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800" b="1" dirty="0">
                <a:latin typeface="Cambria"/>
                <a:cs typeface="Cambria"/>
              </a:rPr>
              <a:t>Department</a:t>
            </a:r>
            <a:r>
              <a:rPr sz="1800" b="1" spc="-45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of</a:t>
            </a:r>
            <a:r>
              <a:rPr sz="1800" b="1" spc="370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computer</a:t>
            </a:r>
            <a:r>
              <a:rPr lang="en-US" sz="1800" b="1" dirty="0">
                <a:latin typeface="Cambria"/>
                <a:cs typeface="Cambria"/>
              </a:rPr>
              <a:t> science</a:t>
            </a:r>
            <a:endParaRPr sz="18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844"/>
              </a:spcBef>
            </a:pPr>
            <a:r>
              <a:rPr sz="1800" b="1" dirty="0">
                <a:latin typeface="Cambria"/>
                <a:cs typeface="Cambria"/>
              </a:rPr>
              <a:t>SSE,</a:t>
            </a:r>
            <a:r>
              <a:rPr sz="1800" b="1" spc="-90" dirty="0">
                <a:latin typeface="Cambria"/>
                <a:cs typeface="Cambria"/>
              </a:rPr>
              <a:t> </a:t>
            </a:r>
            <a:r>
              <a:rPr sz="1800" b="1" spc="-10" dirty="0">
                <a:latin typeface="Cambria"/>
                <a:cs typeface="Cambria"/>
              </a:rPr>
              <a:t>SIMATS</a:t>
            </a:r>
            <a:endParaRPr sz="1800" dirty="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24711" y="124968"/>
            <a:ext cx="9942576" cy="156057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7770371" y="3795865"/>
            <a:ext cx="4836477" cy="3028778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L="12700">
              <a:spcBef>
                <a:spcPts val="885"/>
              </a:spcBef>
            </a:pPr>
            <a:r>
              <a:rPr lang="en-US" sz="1800" b="1" dirty="0">
                <a:latin typeface="Cambria"/>
                <a:cs typeface="Cambria"/>
              </a:rPr>
              <a:t>Student</a:t>
            </a:r>
            <a:r>
              <a:rPr lang="en-US" sz="1800" b="1" spc="50" dirty="0">
                <a:latin typeface="Cambria"/>
                <a:cs typeface="Cambria"/>
              </a:rPr>
              <a:t> </a:t>
            </a:r>
            <a:r>
              <a:rPr lang="en-US" sz="1800" b="1" dirty="0">
                <a:latin typeface="Cambria"/>
                <a:cs typeface="Cambria"/>
              </a:rPr>
              <a:t>Name </a:t>
            </a:r>
            <a:r>
              <a:rPr lang="en-US" b="1" dirty="0">
                <a:solidFill>
                  <a:srgbClr val="7030A0"/>
                </a:solidFill>
                <a:latin typeface="Cambria"/>
                <a:cs typeface="Cambria"/>
              </a:rPr>
              <a:t>:</a:t>
            </a:r>
            <a:r>
              <a:rPr lang="en-US" sz="1800" b="1" dirty="0">
                <a:solidFill>
                  <a:srgbClr val="7030A0"/>
                </a:solidFill>
                <a:latin typeface="Cambria"/>
                <a:cs typeface="Cambria"/>
              </a:rPr>
              <a:t> </a:t>
            </a:r>
            <a:r>
              <a:rPr lang="en-US" sz="1800" b="1" spc="-35" dirty="0">
                <a:solidFill>
                  <a:srgbClr val="7030A0"/>
                </a:solidFill>
                <a:latin typeface="Cambria"/>
                <a:cs typeface="Cambria"/>
              </a:rPr>
              <a:t> DHARANI THARAN .G</a:t>
            </a:r>
          </a:p>
          <a:p>
            <a:pPr marL="12700">
              <a:spcBef>
                <a:spcPts val="885"/>
              </a:spcBef>
            </a:pPr>
            <a:r>
              <a:rPr lang="en-US" sz="1800" b="1" dirty="0">
                <a:latin typeface="Cambria"/>
                <a:cs typeface="Cambria"/>
              </a:rPr>
              <a:t>Reg</a:t>
            </a:r>
            <a:r>
              <a:rPr lang="en-US" sz="1800" b="1" spc="-90" dirty="0">
                <a:latin typeface="Cambria"/>
                <a:cs typeface="Cambria"/>
              </a:rPr>
              <a:t> </a:t>
            </a:r>
            <a:r>
              <a:rPr lang="en-US" sz="1800" b="1" spc="-10" dirty="0">
                <a:latin typeface="Cambria"/>
                <a:cs typeface="Cambria"/>
              </a:rPr>
              <a:t>Number    </a:t>
            </a:r>
            <a:r>
              <a:rPr lang="en-US" sz="1800" b="1" spc="-55" dirty="0">
                <a:latin typeface="Cambria"/>
                <a:cs typeface="Cambria"/>
              </a:rPr>
              <a:t> </a:t>
            </a:r>
            <a:r>
              <a:rPr lang="en-US" sz="1800" b="1" spc="-10" dirty="0">
                <a:latin typeface="Cambria"/>
                <a:cs typeface="Cambria"/>
              </a:rPr>
              <a:t>:  </a:t>
            </a:r>
            <a:r>
              <a:rPr lang="en-US" sz="1800" b="1" spc="-10" dirty="0">
                <a:solidFill>
                  <a:srgbClr val="7030A0"/>
                </a:solidFill>
                <a:latin typeface="Cambria"/>
                <a:cs typeface="Cambria"/>
              </a:rPr>
              <a:t>192511396</a:t>
            </a:r>
            <a:endParaRPr lang="en-US" sz="1800" b="1" spc="-10" dirty="0">
              <a:solidFill>
                <a:srgbClr val="6D2D9F"/>
              </a:solidFill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885"/>
              </a:spcBef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name   : </a:t>
            </a:r>
            <a:r>
              <a:rPr lang="en-IN" sz="1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SRIVANTH.E</a:t>
            </a:r>
            <a:endParaRPr sz="18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1800" b="1" dirty="0">
                <a:latin typeface="Cambria"/>
                <a:cs typeface="Cambria"/>
              </a:rPr>
              <a:t>Reg</a:t>
            </a:r>
            <a:r>
              <a:rPr sz="1800" b="1" spc="-90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Number</a:t>
            </a:r>
            <a:r>
              <a:rPr lang="en-IN" sz="1800" b="1" dirty="0">
                <a:latin typeface="Cambria"/>
                <a:cs typeface="Cambria"/>
              </a:rPr>
              <a:t>    </a:t>
            </a:r>
            <a:r>
              <a:rPr sz="1800" b="1" spc="-55" dirty="0"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6D2D9F"/>
                </a:solidFill>
                <a:latin typeface="Cambria"/>
                <a:cs typeface="Cambria"/>
              </a:rPr>
              <a:t>:</a:t>
            </a:r>
            <a:r>
              <a:rPr sz="1800" b="1" spc="-45" dirty="0">
                <a:solidFill>
                  <a:srgbClr val="6D2D9F"/>
                </a:solidFill>
                <a:latin typeface="Cambria"/>
                <a:cs typeface="Cambria"/>
              </a:rPr>
              <a:t> </a:t>
            </a:r>
            <a:r>
              <a:rPr sz="1800" b="1" spc="-10" dirty="0">
                <a:solidFill>
                  <a:srgbClr val="6D2D9F"/>
                </a:solidFill>
                <a:latin typeface="Cambria"/>
                <a:cs typeface="Cambria"/>
              </a:rPr>
              <a:t>1925</a:t>
            </a:r>
            <a:r>
              <a:rPr lang="en-US" sz="1800" b="1" spc="-10" dirty="0">
                <a:solidFill>
                  <a:srgbClr val="6D2D9F"/>
                </a:solidFill>
                <a:latin typeface="Cambria"/>
                <a:cs typeface="Cambria"/>
              </a:rPr>
              <a:t>12428      </a:t>
            </a:r>
            <a:endParaRPr lang="en-US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lang="en-IN" b="1" spc="-10" dirty="0">
                <a:solidFill>
                  <a:schemeClr val="tx1"/>
                </a:solidFill>
                <a:latin typeface="Cambria"/>
                <a:cs typeface="Cambria"/>
              </a:rPr>
              <a:t>Student Name  : </a:t>
            </a:r>
            <a:r>
              <a:rPr lang="en-IN" b="1" spc="-10" dirty="0">
                <a:solidFill>
                  <a:srgbClr val="7030A0"/>
                </a:solidFill>
                <a:latin typeface="Cambria"/>
                <a:cs typeface="Cambria"/>
              </a:rPr>
              <a:t>PERUMAL .S</a:t>
            </a: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lang="en-IN" b="1" spc="-10" dirty="0">
                <a:solidFill>
                  <a:schemeClr val="tx1"/>
                </a:solidFill>
                <a:latin typeface="Cambria"/>
                <a:cs typeface="Cambria"/>
              </a:rPr>
              <a:t>Reg Number     </a:t>
            </a:r>
            <a:r>
              <a:rPr lang="en-IN" b="1" spc="-10" dirty="0">
                <a:solidFill>
                  <a:srgbClr val="7030A0"/>
                </a:solidFill>
                <a:latin typeface="Cambria"/>
                <a:cs typeface="Cambria"/>
              </a:rPr>
              <a:t>:  </a:t>
            </a:r>
            <a:r>
              <a:rPr lang="en-IN" b="1" spc="-10" dirty="0" smtClean="0">
                <a:solidFill>
                  <a:srgbClr val="7030A0"/>
                </a:solidFill>
                <a:latin typeface="Cambria"/>
                <a:cs typeface="Cambria"/>
              </a:rPr>
              <a:t>192512435</a:t>
            </a:r>
            <a:endParaRPr lang="en-IN" b="1" spc="-10" dirty="0">
              <a:solidFill>
                <a:srgbClr val="7030A0"/>
              </a:solidFill>
              <a:latin typeface="Cambria"/>
              <a:cs typeface="Cambria"/>
            </a:endParaRPr>
          </a:p>
          <a:p>
            <a:pPr marL="12700" marR="5080">
              <a:lnSpc>
                <a:spcPct val="128899"/>
              </a:lnSpc>
            </a:pPr>
            <a:endParaRPr lang="en-US" b="1" spc="-10" dirty="0">
              <a:solidFill>
                <a:srgbClr val="7030A0"/>
              </a:solidFill>
              <a:latin typeface="Cambria"/>
              <a:cs typeface="Cambria"/>
            </a:endParaRPr>
          </a:p>
          <a:p>
            <a:pPr marL="12700" marR="5080">
              <a:lnSpc>
                <a:spcPct val="128899"/>
              </a:lnSpc>
            </a:pPr>
            <a:r>
              <a:rPr sz="1800" b="1" spc="-80" dirty="0">
                <a:latin typeface="Cambria"/>
                <a:cs typeface="Cambria"/>
              </a:rPr>
              <a:t> </a:t>
            </a:r>
            <a:endParaRPr sz="1800" dirty="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667000" y="2608111"/>
            <a:ext cx="6582409" cy="44499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800" b="1" spc="-10" dirty="0" smtClean="0">
                <a:solidFill>
                  <a:srgbClr val="FF0000"/>
                </a:solidFill>
                <a:latin typeface="Times New Roman"/>
                <a:cs typeface="Times New Roman"/>
              </a:rPr>
              <a:t>CSA12</a:t>
            </a:r>
            <a:r>
              <a:rPr lang="en-US" sz="2800" b="1" spc="-10" dirty="0" smtClean="0">
                <a:solidFill>
                  <a:srgbClr val="FF0000"/>
                </a:solidFill>
                <a:latin typeface="Times New Roman"/>
                <a:cs typeface="Times New Roman"/>
              </a:rPr>
              <a:t>33</a:t>
            </a:r>
            <a:r>
              <a:rPr sz="2800" b="1" spc="-10" dirty="0" smtClean="0">
                <a:solidFill>
                  <a:srgbClr val="FF0000"/>
                </a:solidFill>
                <a:latin typeface="Times New Roman"/>
                <a:cs typeface="Times New Roman"/>
              </a:rPr>
              <a:t>-</a:t>
            </a:r>
            <a:r>
              <a:rPr sz="2800" b="1" spc="-40" dirty="0" smtClean="0">
                <a:solidFill>
                  <a:srgbClr val="FF0000"/>
                </a:solidFill>
                <a:latin typeface="Times New Roman"/>
                <a:cs typeface="Times New Roman"/>
              </a:rPr>
              <a:t>COMPUTER</a:t>
            </a:r>
            <a:r>
              <a:rPr sz="2800" b="1" spc="-145" dirty="0" smtClean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ARCHITECTURE</a:t>
            </a:r>
            <a:endParaRPr sz="2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2266950" y="909700"/>
          <a:ext cx="8230235" cy="54844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877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424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1970">
                <a:tc>
                  <a:txBody>
                    <a:bodyPr/>
                    <a:lstStyle/>
                    <a:p>
                      <a:pPr algn="ctr">
                        <a:lnSpc>
                          <a:spcPts val="3500"/>
                        </a:lnSpc>
                      </a:pPr>
                      <a:r>
                        <a:rPr sz="3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</a:t>
                      </a:r>
                      <a:r>
                        <a:rPr sz="3200" b="1" spc="-17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32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No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B"/>
                    </a:solidFill>
                  </a:tcPr>
                </a:tc>
                <a:tc>
                  <a:txBody>
                    <a:bodyPr/>
                    <a:lstStyle/>
                    <a:p>
                      <a:pPr marR="2783840" algn="r">
                        <a:lnSpc>
                          <a:spcPts val="3500"/>
                        </a:lnSpc>
                      </a:pPr>
                      <a:r>
                        <a:rPr sz="32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Content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8175"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890"/>
                        </a:spcBef>
                      </a:pPr>
                      <a:r>
                        <a:rPr sz="2200" b="1" spc="-50" dirty="0">
                          <a:latin typeface="Calibri"/>
                          <a:cs typeface="Calibri"/>
                        </a:rPr>
                        <a:t>1</a:t>
                      </a:r>
                      <a:endParaRPr sz="2200">
                        <a:latin typeface="Calibri"/>
                        <a:cs typeface="Calibri"/>
                      </a:endParaRPr>
                    </a:p>
                  </a:txBody>
                  <a:tcPr marL="0" marR="0" marT="1130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6E8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960"/>
                        </a:spcBef>
                      </a:pPr>
                      <a:r>
                        <a:rPr sz="2200" b="1" spc="-10" dirty="0">
                          <a:latin typeface="Times New Roman"/>
                          <a:cs typeface="Times New Roman"/>
                        </a:rPr>
                        <a:t>Introduction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1219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6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sz="2200" b="1" spc="-50" dirty="0">
                          <a:latin typeface="Calibri"/>
                          <a:cs typeface="Calibri"/>
                        </a:rPr>
                        <a:t>2</a:t>
                      </a:r>
                      <a:endParaRPr sz="2200">
                        <a:latin typeface="Calibri"/>
                        <a:cs typeface="Calibri"/>
                      </a:endParaRPr>
                    </a:p>
                  </a:txBody>
                  <a:tcPr marL="0" marR="0" marT="635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4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Goals</a:t>
                      </a:r>
                      <a:r>
                        <a:rPr sz="220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b="1" dirty="0">
                          <a:latin typeface="Times New Roman"/>
                          <a:cs typeface="Times New Roman"/>
                        </a:rPr>
                        <a:t>&amp;</a:t>
                      </a:r>
                      <a:r>
                        <a:rPr sz="2200" b="1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b="1" spc="-60" dirty="0">
                          <a:latin typeface="Times New Roman"/>
                          <a:cs typeface="Times New Roman"/>
                        </a:rPr>
                        <a:t>Non-</a:t>
                      </a:r>
                      <a:r>
                        <a:rPr sz="2200" b="1" spc="-10" dirty="0">
                          <a:latin typeface="Times New Roman"/>
                          <a:cs typeface="Times New Roman"/>
                        </a:rPr>
                        <a:t>Goals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730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2200" b="1" spc="-50" dirty="0">
                          <a:latin typeface="Calibri"/>
                          <a:cs typeface="Calibri"/>
                        </a:rPr>
                        <a:t>3</a:t>
                      </a:r>
                      <a:endParaRPr sz="2200">
                        <a:latin typeface="Calibri"/>
                        <a:cs typeface="Calibri"/>
                      </a:endParaRPr>
                    </a:p>
                  </a:txBody>
                  <a:tcPr marL="0" marR="0" marT="641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6E8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2200" b="1" spc="-10" dirty="0">
                          <a:latin typeface="Times New Roman"/>
                          <a:cs typeface="Times New Roman"/>
                        </a:rPr>
                        <a:t>Requirements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730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6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2200" b="1" spc="-50" dirty="0">
                          <a:latin typeface="Calibri"/>
                          <a:cs typeface="Calibri"/>
                        </a:rPr>
                        <a:t>4</a:t>
                      </a:r>
                      <a:endParaRPr sz="2200">
                        <a:latin typeface="Calibri"/>
                        <a:cs typeface="Calibri"/>
                      </a:endParaRPr>
                    </a:p>
                  </a:txBody>
                  <a:tcPr marL="0" marR="0" marT="647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4"/>
                    </a:solidFill>
                  </a:tcPr>
                </a:tc>
                <a:tc>
                  <a:txBody>
                    <a:bodyPr/>
                    <a:lstStyle/>
                    <a:p>
                      <a:pPr marR="2800985" algn="r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2200" b="1" spc="-10" dirty="0">
                          <a:latin typeface="Times New Roman"/>
                          <a:cs typeface="Times New Roman"/>
                        </a:rPr>
                        <a:t>Instruction</a:t>
                      </a:r>
                      <a:r>
                        <a:rPr sz="2200" b="1" spc="-2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b="1" spc="-20" dirty="0">
                          <a:latin typeface="Times New Roman"/>
                          <a:cs typeface="Times New Roman"/>
                        </a:rPr>
                        <a:t>Set</a:t>
                      </a:r>
                      <a:r>
                        <a:rPr sz="2200" b="1" spc="-1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b="1" dirty="0">
                          <a:latin typeface="Times New Roman"/>
                          <a:cs typeface="Times New Roman"/>
                        </a:rPr>
                        <a:t>Architecture</a:t>
                      </a:r>
                      <a:r>
                        <a:rPr sz="2200" b="1" spc="-10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b="1" spc="-10" dirty="0">
                          <a:latin typeface="Times New Roman"/>
                          <a:cs typeface="Times New Roman"/>
                        </a:rPr>
                        <a:t>(ISA)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736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2200" b="1" spc="-50" dirty="0">
                          <a:latin typeface="Calibri"/>
                          <a:cs typeface="Calibri"/>
                        </a:rPr>
                        <a:t>5</a:t>
                      </a:r>
                      <a:endParaRPr sz="2200">
                        <a:latin typeface="Calibri"/>
                        <a:cs typeface="Calibri"/>
                      </a:endParaRPr>
                    </a:p>
                  </a:txBody>
                  <a:tcPr marL="0" marR="0" marT="660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6E8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Binary</a:t>
                      </a:r>
                      <a:r>
                        <a:rPr sz="2200" b="1" spc="-1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b="1" spc="-10" dirty="0">
                          <a:latin typeface="Times New Roman"/>
                          <a:cs typeface="Times New Roman"/>
                        </a:rPr>
                        <a:t>Encoding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755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6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200" b="1" spc="-50" dirty="0">
                          <a:latin typeface="Calibri"/>
                          <a:cs typeface="Calibri"/>
                        </a:rPr>
                        <a:t>6</a:t>
                      </a:r>
                      <a:endParaRPr sz="2200">
                        <a:latin typeface="Calibri"/>
                        <a:cs typeface="Calibri"/>
                      </a:endParaRPr>
                    </a:p>
                  </a:txBody>
                  <a:tcPr marL="0" marR="0" marT="666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4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sz="2200" b="1" dirty="0">
                          <a:latin typeface="Times New Roman"/>
                          <a:cs typeface="Times New Roman"/>
                        </a:rPr>
                        <a:t>Assembly</a:t>
                      </a:r>
                      <a:r>
                        <a:rPr sz="2200" b="1" spc="-1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b="1" dirty="0">
                          <a:latin typeface="Times New Roman"/>
                          <a:cs typeface="Times New Roman"/>
                        </a:rPr>
                        <a:t>Language</a:t>
                      </a:r>
                      <a:r>
                        <a:rPr sz="2200" b="1" spc="-11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b="1" spc="-10" dirty="0">
                          <a:latin typeface="Times New Roman"/>
                          <a:cs typeface="Times New Roman"/>
                        </a:rPr>
                        <a:t>Syntax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755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6735"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2200" b="1" spc="-50" dirty="0">
                          <a:latin typeface="Calibri"/>
                          <a:cs typeface="Calibri"/>
                        </a:rPr>
                        <a:t>7</a:t>
                      </a:r>
                      <a:endParaRPr sz="2200">
                        <a:latin typeface="Calibri"/>
                        <a:cs typeface="Calibri"/>
                      </a:endParaRPr>
                    </a:p>
                  </a:txBody>
                  <a:tcPr marL="0" marR="0" marT="711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6E8"/>
                    </a:solidFill>
                  </a:tcPr>
                </a:tc>
                <a:tc>
                  <a:txBody>
                    <a:bodyPr/>
                    <a:lstStyle/>
                    <a:p>
                      <a:pPr marL="19050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2200" b="1" spc="-30" dirty="0">
                          <a:latin typeface="Times New Roman"/>
                          <a:cs typeface="Times New Roman"/>
                        </a:rPr>
                        <a:t>Toolchain</a:t>
                      </a:r>
                      <a:r>
                        <a:rPr sz="2200" b="1" spc="-11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b="1" spc="-10" dirty="0">
                          <a:latin typeface="Times New Roman"/>
                          <a:cs typeface="Times New Roman"/>
                        </a:rPr>
                        <a:t>Architecture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806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6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2200" b="1" spc="-50" dirty="0">
                          <a:latin typeface="Calibri"/>
                          <a:cs typeface="Calibri"/>
                        </a:rPr>
                        <a:t>8</a:t>
                      </a:r>
                      <a:endParaRPr sz="2200">
                        <a:latin typeface="Calibri"/>
                        <a:cs typeface="Calibri"/>
                      </a:endParaRPr>
                    </a:p>
                  </a:txBody>
                  <a:tcPr marL="0" marR="0" marT="685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4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2200" b="1" spc="-10" dirty="0">
                          <a:latin typeface="Times New Roman"/>
                          <a:cs typeface="Times New Roman"/>
                        </a:rPr>
                        <a:t>Implementation</a:t>
                      </a:r>
                      <a:r>
                        <a:rPr sz="2200" b="1" spc="-1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200" b="1" spc="-20" dirty="0">
                          <a:latin typeface="Times New Roman"/>
                          <a:cs typeface="Times New Roman"/>
                        </a:rPr>
                        <a:t>Plan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774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39115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2200" b="1" spc="-50" dirty="0">
                          <a:latin typeface="Calibri"/>
                          <a:cs typeface="Calibri"/>
                        </a:rPr>
                        <a:t>9</a:t>
                      </a:r>
                      <a:endParaRPr sz="2200">
                        <a:latin typeface="Calibri"/>
                        <a:cs typeface="Calibri"/>
                      </a:endParaRPr>
                    </a:p>
                  </a:txBody>
                  <a:tcPr marL="0" marR="0" marT="654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6E8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2200" b="1" spc="-10" dirty="0">
                          <a:latin typeface="Times New Roman"/>
                          <a:cs typeface="Times New Roman"/>
                        </a:rPr>
                        <a:t>conclusion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7429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6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518152" y="282016"/>
            <a:ext cx="319214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0" dirty="0">
                <a:solidFill>
                  <a:srgbClr val="B4520D"/>
                </a:solidFill>
                <a:latin typeface="Microsoft Sans Serif"/>
                <a:cs typeface="Microsoft Sans Serif"/>
              </a:rPr>
              <a:t>List</a:t>
            </a:r>
            <a:r>
              <a:rPr b="0" spc="-10" dirty="0">
                <a:solidFill>
                  <a:srgbClr val="B4520D"/>
                </a:solidFill>
                <a:latin typeface="Microsoft Sans Serif"/>
                <a:cs typeface="Microsoft Sans Serif"/>
              </a:rPr>
              <a:t> </a:t>
            </a:r>
            <a:r>
              <a:rPr b="0" dirty="0">
                <a:solidFill>
                  <a:srgbClr val="B4520D"/>
                </a:solidFill>
                <a:latin typeface="Microsoft Sans Serif"/>
                <a:cs typeface="Microsoft Sans Serif"/>
              </a:rPr>
              <a:t>of</a:t>
            </a:r>
            <a:r>
              <a:rPr b="0" spc="-30" dirty="0">
                <a:solidFill>
                  <a:srgbClr val="B4520D"/>
                </a:solidFill>
                <a:latin typeface="Microsoft Sans Serif"/>
                <a:cs typeface="Microsoft Sans Serif"/>
              </a:rPr>
              <a:t> </a:t>
            </a:r>
            <a:r>
              <a:rPr b="0" spc="-10" dirty="0">
                <a:solidFill>
                  <a:srgbClr val="B4520D"/>
                </a:solidFill>
                <a:latin typeface="Microsoft Sans Serif"/>
                <a:cs typeface="Microsoft Sans Serif"/>
              </a:rPr>
              <a:t>Contents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57526" y="242259"/>
            <a:ext cx="6503542" cy="1032509"/>
          </a:xfrm>
          <a:prstGeom prst="rect">
            <a:avLst/>
          </a:prstGeom>
        </p:spPr>
        <p:txBody>
          <a:bodyPr vert="horz" wrap="square" lIns="0" tIns="372160" rIns="0" bIns="0" rtlCol="0">
            <a:spAutoFit/>
          </a:bodyPr>
          <a:lstStyle/>
          <a:p>
            <a:pPr marL="2195195">
              <a:lnSpc>
                <a:spcPct val="100000"/>
              </a:lnSpc>
              <a:spcBef>
                <a:spcPts val="105"/>
              </a:spcBef>
            </a:pPr>
            <a:r>
              <a:rPr sz="3400" spc="-10" dirty="0"/>
              <a:t>Introduction</a:t>
            </a:r>
            <a:endParaRPr sz="3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39000" y="1447800"/>
            <a:ext cx="4395215" cy="439521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14706" y="2226386"/>
            <a:ext cx="689419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8745" indent="-114300">
              <a:lnSpc>
                <a:spcPct val="100000"/>
              </a:lnSpc>
              <a:spcBef>
                <a:spcPts val="100"/>
              </a:spcBef>
              <a:buSzPct val="95833"/>
              <a:buChar char="•"/>
              <a:tabLst>
                <a:tab pos="118745" algn="l"/>
                <a:tab pos="1957070" algn="l"/>
                <a:tab pos="3341370" algn="l"/>
                <a:tab pos="3811270" algn="l"/>
                <a:tab pos="4750435" algn="l"/>
                <a:tab pos="5930265" algn="l"/>
              </a:tabLst>
            </a:pPr>
            <a:r>
              <a:rPr sz="2400" spc="-10" dirty="0">
                <a:latin typeface="Times New Roman"/>
                <a:cs typeface="Times New Roman"/>
              </a:rPr>
              <a:t>Programming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languages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50" dirty="0">
                <a:latin typeface="Times New Roman"/>
                <a:cs typeface="Times New Roman"/>
              </a:rPr>
              <a:t>→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bridge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between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humans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0" dirty="0">
                <a:latin typeface="Times New Roman"/>
                <a:cs typeface="Times New Roman"/>
              </a:rPr>
              <a:t> machines</a:t>
            </a:r>
            <a:endParaRPr sz="2400">
              <a:latin typeface="Times New Roman"/>
              <a:cs typeface="Times New Roman"/>
            </a:endParaRPr>
          </a:p>
          <a:p>
            <a:pPr marL="118745" indent="-114300">
              <a:lnSpc>
                <a:spcPct val="100000"/>
              </a:lnSpc>
              <a:buSzPct val="95833"/>
              <a:buChar char="•"/>
              <a:tabLst>
                <a:tab pos="118745" algn="l"/>
              </a:tabLst>
            </a:pPr>
            <a:r>
              <a:rPr sz="2400" spc="-10" dirty="0">
                <a:latin typeface="Times New Roman"/>
                <a:cs typeface="Times New Roman"/>
              </a:rPr>
              <a:t>High-</a:t>
            </a:r>
            <a:r>
              <a:rPr sz="2400" dirty="0">
                <a:latin typeface="Times New Roman"/>
                <a:cs typeface="Times New Roman"/>
              </a:rPr>
              <a:t>level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languages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abstract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complexity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spc="-50" dirty="0"/>
              <a:t>1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14706" y="3324605"/>
            <a:ext cx="160147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51460" indent="-8255">
              <a:lnSpc>
                <a:spcPct val="100000"/>
              </a:lnSpc>
              <a:spcBef>
                <a:spcPts val="100"/>
              </a:spcBef>
              <a:buSzPct val="95833"/>
              <a:buChar char="•"/>
              <a:tabLst>
                <a:tab pos="118745" algn="l"/>
              </a:tabLst>
            </a:pPr>
            <a:r>
              <a:rPr sz="2400" spc="-10" dirty="0">
                <a:latin typeface="Times New Roman"/>
                <a:cs typeface="Times New Roman"/>
              </a:rPr>
              <a:t>	Assembly hardware</a:t>
            </a:r>
            <a:endParaRPr sz="2400">
              <a:latin typeface="Times New Roman"/>
              <a:cs typeface="Times New Roman"/>
            </a:endParaRPr>
          </a:p>
          <a:p>
            <a:pPr marL="118745" indent="-114300">
              <a:lnSpc>
                <a:spcPct val="100000"/>
              </a:lnSpc>
              <a:buSzPct val="95833"/>
              <a:buChar char="•"/>
              <a:tabLst>
                <a:tab pos="118745" algn="l"/>
              </a:tabLst>
            </a:pPr>
            <a:r>
              <a:rPr sz="2400" spc="-10" dirty="0">
                <a:latin typeface="Times New Roman"/>
                <a:cs typeface="Times New Roman"/>
              </a:rPr>
              <a:t>Importance: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36598" y="3324605"/>
            <a:ext cx="527621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9525" algn="r">
              <a:lnSpc>
                <a:spcPct val="100000"/>
              </a:lnSpc>
              <a:spcBef>
                <a:spcPts val="100"/>
              </a:spcBef>
              <a:tabLst>
                <a:tab pos="1483995" algn="l"/>
                <a:tab pos="2407920" algn="l"/>
                <a:tab pos="2944495" algn="l"/>
                <a:tab pos="4350385" algn="l"/>
              </a:tabLst>
            </a:pPr>
            <a:r>
              <a:rPr sz="2400" spc="-10" dirty="0">
                <a:latin typeface="Times New Roman"/>
                <a:cs typeface="Times New Roman"/>
              </a:rPr>
              <a:t>language: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close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to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machine,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reflects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2400">
              <a:latin typeface="Times New Roman"/>
              <a:cs typeface="Times New Roman"/>
            </a:endParaRPr>
          </a:p>
          <a:p>
            <a:pPr marR="5080" algn="r">
              <a:lnSpc>
                <a:spcPct val="100000"/>
              </a:lnSpc>
              <a:tabLst>
                <a:tab pos="2139950" algn="l"/>
                <a:tab pos="3764915" algn="l"/>
              </a:tabLst>
            </a:pPr>
            <a:r>
              <a:rPr sz="2400" spc="-10" dirty="0">
                <a:latin typeface="Times New Roman"/>
                <a:cs typeface="Times New Roman"/>
              </a:rPr>
              <a:t>Understanding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compilers,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execution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4706" y="4422394"/>
            <a:ext cx="30867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engines,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CPU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design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5089" y="1447800"/>
            <a:ext cx="4399126" cy="4395216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0175" y="1700808"/>
            <a:ext cx="4176315" cy="352839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23392" rIns="0" bIns="0" rtlCol="0">
            <a:spAutoFit/>
          </a:bodyPr>
          <a:lstStyle/>
          <a:p>
            <a:pPr marL="1235075">
              <a:lnSpc>
                <a:spcPct val="100000"/>
              </a:lnSpc>
              <a:spcBef>
                <a:spcPts val="105"/>
              </a:spcBef>
            </a:pPr>
            <a:r>
              <a:rPr sz="3400" spc="85" dirty="0"/>
              <a:t>Goals</a:t>
            </a:r>
            <a:r>
              <a:rPr sz="3400" spc="-35" dirty="0"/>
              <a:t> </a:t>
            </a:r>
            <a:r>
              <a:rPr sz="3400" spc="120" dirty="0"/>
              <a:t>&amp;</a:t>
            </a:r>
            <a:r>
              <a:rPr sz="3400" spc="225" dirty="0"/>
              <a:t> </a:t>
            </a:r>
            <a:r>
              <a:rPr sz="3400" spc="114" dirty="0"/>
              <a:t>Non-</a:t>
            </a:r>
            <a:r>
              <a:rPr sz="3400" spc="-10" dirty="0"/>
              <a:t>Goals</a:t>
            </a:r>
            <a:endParaRPr sz="3400"/>
          </a:p>
        </p:txBody>
      </p:sp>
      <p:sp>
        <p:nvSpPr>
          <p:cNvPr id="3" name="object 3"/>
          <p:cNvSpPr txBox="1"/>
          <p:nvPr/>
        </p:nvSpPr>
        <p:spPr>
          <a:xfrm>
            <a:off x="837996" y="1453628"/>
            <a:ext cx="5937885" cy="4584065"/>
          </a:xfrm>
          <a:prstGeom prst="rect">
            <a:avLst/>
          </a:prstGeom>
        </p:spPr>
        <p:txBody>
          <a:bodyPr vert="horz" wrap="square" lIns="0" tIns="166370" rIns="0" bIns="0" rtlCol="0">
            <a:spAutoFit/>
          </a:bodyPr>
          <a:lstStyle/>
          <a:p>
            <a:pPr marL="255904" indent="-243204">
              <a:lnSpc>
                <a:spcPct val="100000"/>
              </a:lnSpc>
              <a:spcBef>
                <a:spcPts val="1310"/>
              </a:spcBef>
              <a:buSzPct val="91666"/>
              <a:buFont typeface="Wingdings"/>
              <a:buChar char=""/>
              <a:tabLst>
                <a:tab pos="255904" algn="l"/>
              </a:tabLst>
            </a:pPr>
            <a:r>
              <a:rPr sz="2400" b="1" spc="-10" dirty="0">
                <a:solidFill>
                  <a:srgbClr val="00AD50"/>
                </a:solidFill>
                <a:latin typeface="Times New Roman"/>
                <a:cs typeface="Times New Roman"/>
              </a:rPr>
              <a:t>Goals</a:t>
            </a:r>
            <a:endParaRPr sz="2400">
              <a:latin typeface="Times New Roman"/>
              <a:cs typeface="Times New Roman"/>
            </a:endParaRPr>
          </a:p>
          <a:p>
            <a:pPr marL="368935" indent="-356235">
              <a:lnSpc>
                <a:spcPct val="100000"/>
              </a:lnSpc>
              <a:spcBef>
                <a:spcPts val="1000"/>
              </a:spcBef>
              <a:buFont typeface="Wingdings"/>
              <a:buChar char=""/>
              <a:tabLst>
                <a:tab pos="368935" algn="l"/>
              </a:tabLst>
            </a:pPr>
            <a:r>
              <a:rPr sz="2000" dirty="0">
                <a:latin typeface="Times New Roman"/>
                <a:cs typeface="Times New Roman"/>
              </a:rPr>
              <a:t>Educational</a:t>
            </a:r>
            <a:r>
              <a:rPr sz="2000" spc="4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yet</a:t>
            </a:r>
            <a:r>
              <a:rPr sz="2000" spc="335" dirty="0">
                <a:latin typeface="Times New Roman"/>
                <a:cs typeface="Times New Roman"/>
              </a:rPr>
              <a:t> </a:t>
            </a:r>
            <a:r>
              <a:rPr sz="2000" spc="55" dirty="0">
                <a:latin typeface="Times New Roman"/>
                <a:cs typeface="Times New Roman"/>
              </a:rPr>
              <a:t>realistic</a:t>
            </a:r>
            <a:r>
              <a:rPr sz="2000" spc="39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ISA.</a:t>
            </a:r>
            <a:endParaRPr sz="20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spcBef>
                <a:spcPts val="795"/>
              </a:spcBef>
              <a:buFont typeface="Wingdings"/>
              <a:buChar char=""/>
              <a:tabLst>
                <a:tab pos="299085" algn="l"/>
              </a:tabLst>
            </a:pPr>
            <a:r>
              <a:rPr sz="2000" spc="-30" dirty="0">
                <a:latin typeface="Times New Roman"/>
                <a:cs typeface="Times New Roman"/>
              </a:rPr>
              <a:t>Human-</a:t>
            </a:r>
            <a:r>
              <a:rPr sz="2000" spc="60" dirty="0">
                <a:latin typeface="Times New Roman"/>
                <a:cs typeface="Times New Roman"/>
              </a:rPr>
              <a:t>friendly</a:t>
            </a:r>
            <a:r>
              <a:rPr sz="2000" spc="3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assembly</a:t>
            </a:r>
            <a:r>
              <a:rPr sz="2000" spc="46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syntax.</a:t>
            </a:r>
            <a:endParaRPr sz="2000">
              <a:latin typeface="Times New Roman"/>
              <a:cs typeface="Times New Roman"/>
            </a:endParaRPr>
          </a:p>
          <a:p>
            <a:pPr marL="298450" indent="-285750">
              <a:lnSpc>
                <a:spcPct val="100000"/>
              </a:lnSpc>
              <a:spcBef>
                <a:spcPts val="815"/>
              </a:spcBef>
              <a:buFont typeface="Wingdings"/>
              <a:buChar char=""/>
              <a:tabLst>
                <a:tab pos="298450" algn="l"/>
              </a:tabLst>
            </a:pPr>
            <a:r>
              <a:rPr sz="2000" spc="55" dirty="0">
                <a:latin typeface="Times New Roman"/>
                <a:cs typeface="Times New Roman"/>
              </a:rPr>
              <a:t>Deterministic</a:t>
            </a:r>
            <a:r>
              <a:rPr sz="2000" spc="4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execution</a:t>
            </a:r>
            <a:r>
              <a:rPr sz="2000" spc="44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engine.</a:t>
            </a:r>
            <a:endParaRPr sz="20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spcBef>
                <a:spcPts val="795"/>
              </a:spcBef>
              <a:buFont typeface="Wingdings"/>
              <a:buChar char=""/>
              <a:tabLst>
                <a:tab pos="299085" algn="l"/>
              </a:tabLst>
            </a:pPr>
            <a:r>
              <a:rPr sz="2000" dirty="0">
                <a:latin typeface="Times New Roman"/>
                <a:cs typeface="Times New Roman"/>
              </a:rPr>
              <a:t>Portable</a:t>
            </a:r>
            <a:r>
              <a:rPr sz="2000" spc="380" dirty="0">
                <a:latin typeface="Times New Roman"/>
                <a:cs typeface="Times New Roman"/>
              </a:rPr>
              <a:t> </a:t>
            </a:r>
            <a:r>
              <a:rPr sz="2000" spc="50" dirty="0">
                <a:latin typeface="Times New Roman"/>
                <a:cs typeface="Times New Roman"/>
              </a:rPr>
              <a:t>reference</a:t>
            </a:r>
            <a:r>
              <a:rPr sz="2000" spc="36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implementation.</a:t>
            </a:r>
            <a:endParaRPr sz="20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spcBef>
                <a:spcPts val="795"/>
              </a:spcBef>
              <a:buFont typeface="Wingdings"/>
              <a:buChar char=""/>
              <a:tabLst>
                <a:tab pos="299085" algn="l"/>
              </a:tabLst>
            </a:pPr>
            <a:r>
              <a:rPr sz="2000" dirty="0">
                <a:latin typeface="Times New Roman"/>
                <a:cs typeface="Times New Roman"/>
              </a:rPr>
              <a:t>Clear</a:t>
            </a:r>
            <a:r>
              <a:rPr sz="2000" spc="110" dirty="0">
                <a:latin typeface="Times New Roman"/>
                <a:cs typeface="Times New Roman"/>
              </a:rPr>
              <a:t> </a:t>
            </a:r>
            <a:r>
              <a:rPr sz="2000" spc="60" dirty="0">
                <a:latin typeface="Times New Roman"/>
                <a:cs typeface="Times New Roman"/>
              </a:rPr>
              <a:t>separation</a:t>
            </a:r>
            <a:r>
              <a:rPr sz="2000" spc="1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340" dirty="0">
                <a:latin typeface="Times New Roman"/>
                <a:cs typeface="Times New Roman"/>
              </a:rPr>
              <a:t> </a:t>
            </a:r>
            <a:r>
              <a:rPr sz="2000" spc="50" dirty="0">
                <a:latin typeface="Times New Roman"/>
                <a:cs typeface="Times New Roman"/>
              </a:rPr>
              <a:t>assembler</a:t>
            </a:r>
            <a:r>
              <a:rPr sz="2000" spc="20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1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VM</a:t>
            </a:r>
            <a:r>
              <a:rPr sz="2000" spc="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with</a:t>
            </a:r>
            <a:r>
              <a:rPr sz="2000" spc="2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7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stable</a:t>
            </a:r>
            <a:endParaRPr sz="2000">
              <a:latin typeface="Times New Roman"/>
              <a:cs typeface="Times New Roman"/>
            </a:endParaRPr>
          </a:p>
          <a:p>
            <a:pPr marL="299085">
              <a:lnSpc>
                <a:spcPct val="100000"/>
              </a:lnSpc>
            </a:pPr>
            <a:r>
              <a:rPr sz="2000" spc="-25" dirty="0">
                <a:latin typeface="Times New Roman"/>
                <a:cs typeface="Times New Roman"/>
              </a:rPr>
              <a:t>IR.</a:t>
            </a:r>
            <a:endParaRPr sz="2000">
              <a:latin typeface="Times New Roman"/>
              <a:cs typeface="Times New Roman"/>
            </a:endParaRPr>
          </a:p>
          <a:p>
            <a:pPr marL="255904" indent="-243204">
              <a:lnSpc>
                <a:spcPct val="100000"/>
              </a:lnSpc>
              <a:spcBef>
                <a:spcPts val="490"/>
              </a:spcBef>
              <a:buSzPct val="91666"/>
              <a:buFont typeface="Wingdings"/>
              <a:buChar char=""/>
              <a:tabLst>
                <a:tab pos="255904" algn="l"/>
              </a:tabLst>
            </a:pPr>
            <a:r>
              <a:rPr sz="2400" b="1" spc="-25" dirty="0">
                <a:solidFill>
                  <a:srgbClr val="00AD50"/>
                </a:solidFill>
                <a:latin typeface="Times New Roman"/>
                <a:cs typeface="Times New Roman"/>
              </a:rPr>
              <a:t>Non-</a:t>
            </a:r>
            <a:r>
              <a:rPr sz="2400" b="1" spc="-10" dirty="0">
                <a:solidFill>
                  <a:srgbClr val="00AD50"/>
                </a:solidFill>
                <a:latin typeface="Times New Roman"/>
                <a:cs typeface="Times New Roman"/>
              </a:rPr>
              <a:t>Goals</a:t>
            </a:r>
            <a:endParaRPr sz="2400">
              <a:latin typeface="Times New Roman"/>
              <a:cs typeface="Times New Roman"/>
            </a:endParaRPr>
          </a:p>
          <a:p>
            <a:pPr marL="298450" indent="-285750">
              <a:lnSpc>
                <a:spcPct val="100000"/>
              </a:lnSpc>
              <a:spcBef>
                <a:spcPts val="1025"/>
              </a:spcBef>
              <a:buFont typeface="Wingdings"/>
              <a:buChar char=""/>
              <a:tabLst>
                <a:tab pos="298450" algn="l"/>
              </a:tabLst>
            </a:pPr>
            <a:r>
              <a:rPr sz="2000" spc="50" dirty="0">
                <a:latin typeface="Times New Roman"/>
                <a:cs typeface="Times New Roman"/>
              </a:rPr>
              <a:t>Binary</a:t>
            </a:r>
            <a:r>
              <a:rPr sz="2000" spc="254" dirty="0">
                <a:latin typeface="Times New Roman"/>
                <a:cs typeface="Times New Roman"/>
              </a:rPr>
              <a:t> </a:t>
            </a:r>
            <a:r>
              <a:rPr sz="2000" spc="55" dirty="0">
                <a:latin typeface="Times New Roman"/>
                <a:cs typeface="Times New Roman"/>
              </a:rPr>
              <a:t>compatibility</a:t>
            </a:r>
            <a:r>
              <a:rPr sz="2000" spc="2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with</a:t>
            </a:r>
            <a:r>
              <a:rPr sz="2000" spc="3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existing</a:t>
            </a:r>
            <a:r>
              <a:rPr sz="2000" spc="39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architectures.</a:t>
            </a:r>
            <a:endParaRPr sz="20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spcBef>
                <a:spcPts val="790"/>
              </a:spcBef>
              <a:buFont typeface="Wingdings"/>
              <a:buChar char=""/>
              <a:tabLst>
                <a:tab pos="299085" algn="l"/>
              </a:tabLst>
            </a:pPr>
            <a:r>
              <a:rPr sz="2000" dirty="0">
                <a:latin typeface="Times New Roman"/>
                <a:cs typeface="Times New Roman"/>
              </a:rPr>
              <a:t>Peak</a:t>
            </a:r>
            <a:r>
              <a:rPr sz="2000" spc="1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native</a:t>
            </a:r>
            <a:r>
              <a:rPr sz="2000" spc="28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performance.</a:t>
            </a:r>
            <a:endParaRPr sz="20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spcBef>
                <a:spcPts val="819"/>
              </a:spcBef>
              <a:buFont typeface="Wingdings"/>
              <a:buChar char=""/>
              <a:tabLst>
                <a:tab pos="299085" algn="l"/>
              </a:tabLst>
            </a:pPr>
            <a:r>
              <a:rPr sz="2000" dirty="0">
                <a:latin typeface="Times New Roman"/>
                <a:cs typeface="Times New Roman"/>
              </a:rPr>
              <a:t>Advanced</a:t>
            </a:r>
            <a:r>
              <a:rPr sz="2000" spc="3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CPU</a:t>
            </a:r>
            <a:r>
              <a:rPr sz="2000" spc="1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features</a:t>
            </a:r>
            <a:r>
              <a:rPr sz="2000" spc="4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like</a:t>
            </a:r>
            <a:r>
              <a:rPr sz="2000" spc="29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speculation.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01000" y="1295400"/>
            <a:ext cx="3505200" cy="4669536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spc="-50" dirty="0"/>
              <a:t>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57526" y="242259"/>
            <a:ext cx="6503542" cy="1032509"/>
          </a:xfrm>
          <a:prstGeom prst="rect">
            <a:avLst/>
          </a:prstGeom>
        </p:spPr>
        <p:txBody>
          <a:bodyPr vert="horz" wrap="square" lIns="0" tIns="310819" rIns="0" bIns="0" rtlCol="0">
            <a:spAutoFit/>
          </a:bodyPr>
          <a:lstStyle/>
          <a:p>
            <a:pPr marL="1823720">
              <a:lnSpc>
                <a:spcPct val="100000"/>
              </a:lnSpc>
              <a:spcBef>
                <a:spcPts val="100"/>
              </a:spcBef>
            </a:pPr>
            <a:r>
              <a:rPr spc="114" dirty="0"/>
              <a:t>Requirements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40435" y="1734438"/>
            <a:ext cx="5840095" cy="403415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90"/>
              </a:spcBef>
              <a:buFont typeface="Wingdings"/>
              <a:buChar char=""/>
              <a:tabLst>
                <a:tab pos="356870" algn="l"/>
              </a:tabLst>
            </a:pPr>
            <a:r>
              <a:rPr sz="2000" b="1" spc="-10" dirty="0">
                <a:solidFill>
                  <a:srgbClr val="00AD50"/>
                </a:solidFill>
                <a:latin typeface="Times New Roman"/>
                <a:cs typeface="Times New Roman"/>
              </a:rPr>
              <a:t>Functional</a:t>
            </a:r>
            <a:endParaRPr sz="2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endParaRPr sz="2000" dirty="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buFont typeface="Wingdings"/>
              <a:buChar char=""/>
              <a:tabLst>
                <a:tab pos="299085" algn="l"/>
              </a:tabLst>
            </a:pPr>
            <a:r>
              <a:rPr sz="2000" dirty="0">
                <a:latin typeface="Times New Roman"/>
                <a:cs typeface="Times New Roman"/>
              </a:rPr>
              <a:t>Assemble</a:t>
            </a:r>
            <a:r>
              <a:rPr sz="2000" spc="3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assembly</a:t>
            </a:r>
            <a:r>
              <a:rPr sz="2000" spc="310" dirty="0">
                <a:latin typeface="Times New Roman"/>
                <a:cs typeface="Times New Roman"/>
              </a:rPr>
              <a:t> </a:t>
            </a:r>
            <a:r>
              <a:rPr sz="2000" spc="50" dirty="0">
                <a:latin typeface="Times New Roman"/>
                <a:cs typeface="Times New Roman"/>
              </a:rPr>
              <a:t>source</a:t>
            </a:r>
            <a:r>
              <a:rPr sz="2000" spc="3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into</a:t>
            </a:r>
            <a:r>
              <a:rPr sz="2000" spc="265" dirty="0">
                <a:latin typeface="Times New Roman"/>
                <a:cs typeface="Times New Roman"/>
              </a:rPr>
              <a:t> </a:t>
            </a:r>
            <a:r>
              <a:rPr sz="2000" spc="70" dirty="0">
                <a:latin typeface="Times New Roman"/>
                <a:cs typeface="Times New Roman"/>
              </a:rPr>
              <a:t>bytecode</a:t>
            </a:r>
            <a:r>
              <a:rPr sz="2000" spc="2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23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run</a:t>
            </a:r>
            <a:endParaRPr sz="2000" dirty="0">
              <a:latin typeface="Times New Roman"/>
              <a:cs typeface="Times New Roman"/>
            </a:endParaRPr>
          </a:p>
          <a:p>
            <a:pPr marL="299085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on</a:t>
            </a:r>
            <a:r>
              <a:rPr sz="2000" spc="10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VM.</a:t>
            </a:r>
            <a:endParaRPr sz="2000" dirty="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buFont typeface="Wingdings"/>
              <a:buChar char=""/>
              <a:tabLst>
                <a:tab pos="299085" algn="l"/>
              </a:tabLst>
            </a:pPr>
            <a:r>
              <a:rPr sz="2000" spc="50" dirty="0">
                <a:latin typeface="Times New Roman"/>
                <a:cs typeface="Times New Roman"/>
              </a:rPr>
              <a:t>Support</a:t>
            </a:r>
            <a:r>
              <a:rPr sz="2000" spc="3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basic</a:t>
            </a:r>
            <a:r>
              <a:rPr sz="2000" spc="3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1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types</a:t>
            </a:r>
            <a:r>
              <a:rPr sz="2000" spc="3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2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1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flat</a:t>
            </a:r>
            <a:r>
              <a:rPr sz="2000" spc="2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memory</a:t>
            </a:r>
            <a:r>
              <a:rPr sz="2000" spc="35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model.</a:t>
            </a:r>
            <a:endParaRPr sz="2000" dirty="0">
              <a:latin typeface="Times New Roman"/>
              <a:cs typeface="Times New Roman"/>
            </a:endParaRPr>
          </a:p>
          <a:p>
            <a:pPr marL="298450" indent="-285750">
              <a:lnSpc>
                <a:spcPct val="100000"/>
              </a:lnSpc>
              <a:buFont typeface="Wingdings"/>
              <a:buChar char=""/>
              <a:tabLst>
                <a:tab pos="298450" algn="l"/>
              </a:tabLst>
            </a:pPr>
            <a:r>
              <a:rPr sz="2000" dirty="0">
                <a:latin typeface="Times New Roman"/>
                <a:cs typeface="Times New Roman"/>
              </a:rPr>
              <a:t>I/O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via</a:t>
            </a:r>
            <a:r>
              <a:rPr sz="2000" spc="1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simple</a:t>
            </a:r>
            <a:r>
              <a:rPr sz="2000" spc="35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interrupts.</a:t>
            </a:r>
            <a:endParaRPr sz="2000" dirty="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spcBef>
                <a:spcPts val="5"/>
              </a:spcBef>
              <a:buFont typeface="Wingdings"/>
              <a:buChar char=""/>
              <a:tabLst>
                <a:tab pos="299085" algn="l"/>
              </a:tabLst>
            </a:pPr>
            <a:r>
              <a:rPr sz="2000" dirty="0">
                <a:latin typeface="Times New Roman"/>
                <a:cs typeface="Times New Roman"/>
              </a:rPr>
              <a:t>Tooling:</a:t>
            </a:r>
            <a:r>
              <a:rPr sz="2000" spc="3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symbol</a:t>
            </a:r>
            <a:r>
              <a:rPr sz="2000" spc="3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maps,</a:t>
            </a:r>
            <a:r>
              <a:rPr sz="2000" spc="3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listing,</a:t>
            </a:r>
            <a:r>
              <a:rPr sz="2000" spc="4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debug</a:t>
            </a:r>
            <a:r>
              <a:rPr sz="2000" spc="3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info</a:t>
            </a:r>
            <a:r>
              <a:rPr sz="1800" spc="-10" dirty="0">
                <a:latin typeface="Times New Roman"/>
                <a:cs typeface="Times New Roman"/>
              </a:rPr>
              <a:t>.</a:t>
            </a:r>
            <a:endParaRPr sz="1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000" dirty="0">
              <a:latin typeface="Times New Roman"/>
              <a:cs typeface="Times New Roman"/>
            </a:endParaRPr>
          </a:p>
          <a:p>
            <a:pPr marL="356870" indent="-344170">
              <a:lnSpc>
                <a:spcPct val="100000"/>
              </a:lnSpc>
              <a:buFont typeface="Wingdings"/>
              <a:buChar char=""/>
              <a:tabLst>
                <a:tab pos="356870" algn="l"/>
              </a:tabLst>
            </a:pPr>
            <a:r>
              <a:rPr sz="2000" b="1" spc="-10" dirty="0">
                <a:solidFill>
                  <a:srgbClr val="00AD50"/>
                </a:solidFill>
                <a:latin typeface="Times New Roman"/>
                <a:cs typeface="Times New Roman"/>
              </a:rPr>
              <a:t>Non-Functional</a:t>
            </a:r>
            <a:endParaRPr sz="2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95"/>
              </a:spcBef>
            </a:pPr>
            <a:endParaRPr sz="2000" dirty="0">
              <a:latin typeface="Times New Roman"/>
              <a:cs typeface="Times New Roman"/>
            </a:endParaRPr>
          </a:p>
          <a:p>
            <a:pPr marL="298450" indent="-285750">
              <a:lnSpc>
                <a:spcPct val="100000"/>
              </a:lnSpc>
              <a:buFont typeface="Wingdings"/>
              <a:buChar char=""/>
              <a:tabLst>
                <a:tab pos="298450" algn="l"/>
              </a:tabLst>
            </a:pPr>
            <a:r>
              <a:rPr sz="2000" spc="60" dirty="0">
                <a:latin typeface="Times New Roman"/>
                <a:cs typeface="Times New Roman"/>
              </a:rPr>
              <a:t>Portability</a:t>
            </a:r>
            <a:r>
              <a:rPr sz="2000" spc="160" dirty="0">
                <a:latin typeface="Times New Roman"/>
                <a:cs typeface="Times New Roman"/>
              </a:rPr>
              <a:t> </a:t>
            </a:r>
            <a:r>
              <a:rPr sz="2000" spc="50" dirty="0">
                <a:latin typeface="Times New Roman"/>
                <a:cs typeface="Times New Roman"/>
              </a:rPr>
              <a:t>across</a:t>
            </a:r>
            <a:r>
              <a:rPr sz="2000" spc="2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major</a:t>
            </a:r>
            <a:r>
              <a:rPr sz="2000" spc="28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OSes.</a:t>
            </a:r>
            <a:endParaRPr sz="2000" dirty="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spcBef>
                <a:spcPts val="5"/>
              </a:spcBef>
              <a:buFont typeface="Wingdings"/>
              <a:buChar char=""/>
              <a:tabLst>
                <a:tab pos="299085" algn="l"/>
              </a:tabLst>
            </a:pPr>
            <a:r>
              <a:rPr sz="2000" spc="50" dirty="0">
                <a:latin typeface="Times New Roman"/>
                <a:cs typeface="Times New Roman"/>
              </a:rPr>
              <a:t>Deterministic</a:t>
            </a:r>
            <a:r>
              <a:rPr sz="2000" spc="36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results.</a:t>
            </a:r>
            <a:endParaRPr sz="2000" dirty="0">
              <a:latin typeface="Times New Roman"/>
              <a:cs typeface="Times New Roman"/>
            </a:endParaRPr>
          </a:p>
          <a:p>
            <a:pPr marL="298450" indent="-285750">
              <a:lnSpc>
                <a:spcPct val="100000"/>
              </a:lnSpc>
              <a:buFont typeface="Wingdings"/>
              <a:buChar char=""/>
              <a:tabLst>
                <a:tab pos="298450" algn="l"/>
              </a:tabLst>
            </a:pPr>
            <a:r>
              <a:rPr sz="2000" dirty="0">
                <a:latin typeface="Times New Roman"/>
                <a:cs typeface="Times New Roman"/>
              </a:rPr>
              <a:t>Readable,</a:t>
            </a:r>
            <a:r>
              <a:rPr sz="2000" spc="155" dirty="0">
                <a:latin typeface="Times New Roman"/>
                <a:cs typeface="Times New Roman"/>
              </a:rPr>
              <a:t> </a:t>
            </a:r>
            <a:r>
              <a:rPr sz="2000" spc="50" dirty="0">
                <a:latin typeface="Times New Roman"/>
                <a:cs typeface="Times New Roman"/>
              </a:rPr>
              <a:t>tested</a:t>
            </a:r>
            <a:r>
              <a:rPr sz="2000" spc="38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code.</a:t>
            </a:r>
            <a:endParaRPr sz="2000" dirty="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39000" y="1676400"/>
            <a:ext cx="4267200" cy="426720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spc="-50" dirty="0"/>
              <a:t>3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2104" y="1521281"/>
            <a:ext cx="4968552" cy="457743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1373" y="1666085"/>
            <a:ext cx="4436401" cy="363573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628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800" spc="185" dirty="0"/>
              <a:t>Instruction</a:t>
            </a:r>
            <a:r>
              <a:rPr sz="2800" spc="195" dirty="0"/>
              <a:t> </a:t>
            </a:r>
            <a:r>
              <a:rPr sz="2800" spc="110" dirty="0"/>
              <a:t>Set</a:t>
            </a:r>
            <a:r>
              <a:rPr sz="2800" spc="75" dirty="0"/>
              <a:t> </a:t>
            </a:r>
            <a:r>
              <a:rPr sz="2800" spc="220" dirty="0"/>
              <a:t>Architecture</a:t>
            </a:r>
            <a:r>
              <a:rPr sz="2800" spc="275" dirty="0"/>
              <a:t> </a:t>
            </a:r>
            <a:r>
              <a:rPr sz="2800" spc="-10" dirty="0"/>
              <a:t>(ISA)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535330" y="1383030"/>
            <a:ext cx="7223125" cy="41497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55904" indent="-243204">
              <a:lnSpc>
                <a:spcPct val="100000"/>
              </a:lnSpc>
              <a:spcBef>
                <a:spcPts val="90"/>
              </a:spcBef>
              <a:buSzPct val="90000"/>
              <a:buFont typeface="Wingdings"/>
              <a:buChar char=""/>
              <a:tabLst>
                <a:tab pos="255904" algn="l"/>
              </a:tabLst>
            </a:pPr>
            <a:r>
              <a:rPr sz="2000" b="1" spc="-10" dirty="0">
                <a:solidFill>
                  <a:srgbClr val="00AD50"/>
                </a:solidFill>
                <a:latin typeface="Times New Roman"/>
                <a:cs typeface="Times New Roman"/>
              </a:rPr>
              <a:t>Registers</a:t>
            </a:r>
            <a:r>
              <a:rPr sz="2000" spc="-10" dirty="0">
                <a:latin typeface="Times New Roman"/>
                <a:cs typeface="Times New Roman"/>
              </a:rPr>
              <a:t>:</a:t>
            </a:r>
            <a:r>
              <a:rPr sz="2000" spc="-145" dirty="0">
                <a:latin typeface="Times New Roman"/>
                <a:cs typeface="Times New Roman"/>
              </a:rPr>
              <a:t> </a:t>
            </a:r>
            <a:r>
              <a:rPr sz="2000" spc="114" dirty="0">
                <a:latin typeface="Times New Roman"/>
                <a:cs typeface="Times New Roman"/>
              </a:rPr>
              <a:t>r0–r7,</a:t>
            </a:r>
            <a:r>
              <a:rPr sz="2000" spc="1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sp,</a:t>
            </a:r>
            <a:r>
              <a:rPr sz="2000" spc="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bp,</a:t>
            </a:r>
            <a:r>
              <a:rPr sz="2000" spc="1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ip,</a:t>
            </a:r>
            <a:r>
              <a:rPr sz="2000" spc="8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fl</a:t>
            </a:r>
            <a:r>
              <a:rPr sz="2000" spc="-25" dirty="0">
                <a:solidFill>
                  <a:srgbClr val="5B9BD2"/>
                </a:solidFill>
                <a:latin typeface="Times New Roman"/>
                <a:cs typeface="Times New Roman"/>
              </a:rPr>
              <a:t>.</a:t>
            </a:r>
            <a:endParaRPr sz="2000" dirty="0">
              <a:latin typeface="Times New Roman"/>
              <a:cs typeface="Times New Roman"/>
            </a:endParaRPr>
          </a:p>
          <a:p>
            <a:pPr marL="255904" indent="-243204">
              <a:lnSpc>
                <a:spcPct val="100000"/>
              </a:lnSpc>
              <a:spcBef>
                <a:spcPts val="1415"/>
              </a:spcBef>
              <a:buSzPct val="90000"/>
              <a:buFont typeface="Wingdings"/>
              <a:buChar char=""/>
              <a:tabLst>
                <a:tab pos="255904" algn="l"/>
              </a:tabLst>
            </a:pPr>
            <a:r>
              <a:rPr sz="2000" b="1" dirty="0">
                <a:solidFill>
                  <a:srgbClr val="00AD50"/>
                </a:solidFill>
                <a:latin typeface="Times New Roman"/>
                <a:cs typeface="Times New Roman"/>
              </a:rPr>
              <a:t>Flags</a:t>
            </a:r>
            <a:r>
              <a:rPr sz="2000" dirty="0">
                <a:latin typeface="Times New Roman"/>
                <a:cs typeface="Times New Roman"/>
              </a:rPr>
              <a:t>:</a:t>
            </a:r>
            <a:r>
              <a:rPr sz="2000" spc="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Zero,</a:t>
            </a:r>
            <a:r>
              <a:rPr sz="2000" spc="2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Negative,</a:t>
            </a:r>
            <a:r>
              <a:rPr sz="2000" spc="1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Carry,</a:t>
            </a:r>
            <a:r>
              <a:rPr sz="2000" spc="3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Overflow.</a:t>
            </a:r>
            <a:endParaRPr sz="2000" dirty="0">
              <a:latin typeface="Times New Roman"/>
              <a:cs typeface="Times New Roman"/>
            </a:endParaRPr>
          </a:p>
          <a:p>
            <a:pPr marL="255904" indent="-243204">
              <a:lnSpc>
                <a:spcPct val="100000"/>
              </a:lnSpc>
              <a:spcBef>
                <a:spcPts val="1660"/>
              </a:spcBef>
              <a:buSzPct val="90000"/>
              <a:buFont typeface="Wingdings"/>
              <a:buChar char=""/>
              <a:tabLst>
                <a:tab pos="255904" algn="l"/>
              </a:tabLst>
            </a:pPr>
            <a:r>
              <a:rPr sz="2000" b="1" spc="-10" dirty="0">
                <a:solidFill>
                  <a:srgbClr val="00AD50"/>
                </a:solidFill>
                <a:latin typeface="Times New Roman"/>
                <a:cs typeface="Times New Roman"/>
              </a:rPr>
              <a:t>Addressing</a:t>
            </a:r>
            <a:r>
              <a:rPr sz="2000" b="1" spc="90" dirty="0">
                <a:solidFill>
                  <a:srgbClr val="00AD5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AD50"/>
                </a:solidFill>
                <a:latin typeface="Times New Roman"/>
                <a:cs typeface="Times New Roman"/>
              </a:rPr>
              <a:t>Modes</a:t>
            </a:r>
            <a:r>
              <a:rPr sz="2000" dirty="0">
                <a:latin typeface="Times New Roman"/>
                <a:cs typeface="Times New Roman"/>
              </a:rPr>
              <a:t>:</a:t>
            </a:r>
            <a:r>
              <a:rPr sz="2000" spc="1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Immediate,</a:t>
            </a:r>
            <a:r>
              <a:rPr sz="2000" spc="409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Register,</a:t>
            </a:r>
            <a:r>
              <a:rPr sz="2000" spc="2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Base+disp,</a:t>
            </a:r>
            <a:r>
              <a:rPr sz="2000" spc="30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Pre/Post</a:t>
            </a:r>
            <a:endParaRPr sz="2000" dirty="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2014"/>
              </a:spcBef>
            </a:pPr>
            <a:r>
              <a:rPr sz="2000" spc="-10" dirty="0">
                <a:latin typeface="Times New Roman"/>
                <a:cs typeface="Times New Roman"/>
              </a:rPr>
              <a:t>inc/dec</a:t>
            </a:r>
            <a:r>
              <a:rPr sz="2000" spc="-10" dirty="0">
                <a:solidFill>
                  <a:srgbClr val="5B9BD2"/>
                </a:solidFill>
                <a:latin typeface="Times New Roman"/>
                <a:cs typeface="Times New Roman"/>
              </a:rPr>
              <a:t>.</a:t>
            </a:r>
            <a:endParaRPr sz="2000" dirty="0">
              <a:latin typeface="Times New Roman"/>
              <a:cs typeface="Times New Roman"/>
            </a:endParaRPr>
          </a:p>
          <a:p>
            <a:pPr marL="241300" marR="5080" indent="-228600">
              <a:lnSpc>
                <a:spcPct val="140500"/>
              </a:lnSpc>
              <a:spcBef>
                <a:spcPts val="160"/>
              </a:spcBef>
              <a:buSzPct val="90000"/>
              <a:buFont typeface="Wingdings"/>
              <a:buChar char=""/>
              <a:tabLst>
                <a:tab pos="241300" algn="l"/>
                <a:tab pos="255904" algn="l"/>
              </a:tabLst>
            </a:pPr>
            <a:r>
              <a:rPr sz="2000" dirty="0">
                <a:solidFill>
                  <a:srgbClr val="00AD50"/>
                </a:solidFill>
                <a:latin typeface="Times New Roman"/>
                <a:cs typeface="Times New Roman"/>
              </a:rPr>
              <a:t>	</a:t>
            </a:r>
            <a:r>
              <a:rPr sz="2000" b="1" spc="-10" dirty="0">
                <a:solidFill>
                  <a:srgbClr val="00AD50"/>
                </a:solidFill>
                <a:latin typeface="Times New Roman"/>
                <a:cs typeface="Times New Roman"/>
              </a:rPr>
              <a:t>Instructions</a:t>
            </a:r>
            <a:r>
              <a:rPr sz="2000" spc="-10" dirty="0">
                <a:latin typeface="Times New Roman"/>
                <a:cs typeface="Times New Roman"/>
              </a:rPr>
              <a:t>:</a:t>
            </a:r>
            <a:r>
              <a:rPr sz="2000" spc="-170" dirty="0">
                <a:latin typeface="Times New Roman"/>
                <a:cs typeface="Times New Roman"/>
              </a:rPr>
              <a:t> </a:t>
            </a:r>
            <a:r>
              <a:rPr sz="2000" b="1" spc="-45" dirty="0">
                <a:latin typeface="Times New Roman"/>
                <a:cs typeface="Times New Roman"/>
              </a:rPr>
              <a:t>MOV,</a:t>
            </a:r>
            <a:r>
              <a:rPr sz="2000" b="1" spc="-18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LD,</a:t>
            </a:r>
            <a:r>
              <a:rPr sz="2000" b="1" spc="-7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ST,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PUSH,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spc="-50" dirty="0">
                <a:latin typeface="Times New Roman"/>
                <a:cs typeface="Times New Roman"/>
              </a:rPr>
              <a:t>POP,</a:t>
            </a:r>
            <a:r>
              <a:rPr sz="2000" b="1" spc="-204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ADD,</a:t>
            </a:r>
            <a:r>
              <a:rPr sz="2000" b="1" spc="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SUB,</a:t>
            </a:r>
            <a:r>
              <a:rPr sz="2000" b="1" spc="-8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MUL,</a:t>
            </a:r>
            <a:r>
              <a:rPr sz="2000" b="1" spc="-105" dirty="0">
                <a:latin typeface="Times New Roman"/>
                <a:cs typeface="Times New Roman"/>
              </a:rPr>
              <a:t> </a:t>
            </a:r>
            <a:r>
              <a:rPr sz="2000" b="1" spc="-20" dirty="0">
                <a:latin typeface="Times New Roman"/>
                <a:cs typeface="Times New Roman"/>
              </a:rPr>
              <a:t>DIV, AND,</a:t>
            </a:r>
            <a:r>
              <a:rPr sz="2000" b="1" spc="-1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OR,</a:t>
            </a:r>
            <a:r>
              <a:rPr sz="2000" b="1" spc="-1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XOR,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NOT,</a:t>
            </a:r>
            <a:r>
              <a:rPr sz="2000" b="1" spc="-9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SHL,</a:t>
            </a:r>
            <a:r>
              <a:rPr sz="2000" b="1" spc="-6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SHR,</a:t>
            </a:r>
            <a:r>
              <a:rPr sz="2000" b="1" spc="-60" dirty="0">
                <a:latin typeface="Times New Roman"/>
                <a:cs typeface="Times New Roman"/>
              </a:rPr>
              <a:t> </a:t>
            </a:r>
            <a:r>
              <a:rPr sz="2000" b="1" spc="-45" dirty="0">
                <a:latin typeface="Times New Roman"/>
                <a:cs typeface="Times New Roman"/>
              </a:rPr>
              <a:t>CMP,</a:t>
            </a:r>
            <a:r>
              <a:rPr sz="2000" b="1" spc="-229" dirty="0">
                <a:latin typeface="Times New Roman"/>
                <a:cs typeface="Times New Roman"/>
              </a:rPr>
              <a:t> </a:t>
            </a:r>
            <a:r>
              <a:rPr sz="2000" b="1" spc="-20" dirty="0">
                <a:latin typeface="Times New Roman"/>
                <a:cs typeface="Times New Roman"/>
              </a:rPr>
              <a:t>TST,</a:t>
            </a:r>
            <a:r>
              <a:rPr sz="2000" b="1" spc="-105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JMP,</a:t>
            </a:r>
            <a:r>
              <a:rPr sz="2000" b="1" spc="-229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JZ,</a:t>
            </a:r>
            <a:r>
              <a:rPr sz="2000" b="1" spc="10" dirty="0">
                <a:latin typeface="Times New Roman"/>
                <a:cs typeface="Times New Roman"/>
              </a:rPr>
              <a:t> </a:t>
            </a:r>
            <a:r>
              <a:rPr sz="2000" b="1" spc="-20" dirty="0">
                <a:latin typeface="Times New Roman"/>
                <a:cs typeface="Times New Roman"/>
              </a:rPr>
              <a:t>JNZ, </a:t>
            </a:r>
            <a:r>
              <a:rPr sz="2000" b="1" dirty="0">
                <a:latin typeface="Times New Roman"/>
                <a:cs typeface="Times New Roman"/>
              </a:rPr>
              <a:t>CALL,</a:t>
            </a:r>
            <a:r>
              <a:rPr sz="2000" b="1" spc="-80" dirty="0">
                <a:latin typeface="Times New Roman"/>
                <a:cs typeface="Times New Roman"/>
              </a:rPr>
              <a:t> </a:t>
            </a:r>
            <a:r>
              <a:rPr sz="2000" b="1" spc="-30" dirty="0">
                <a:latin typeface="Times New Roman"/>
                <a:cs typeface="Times New Roman"/>
              </a:rPr>
              <a:t>RET,</a:t>
            </a:r>
            <a:r>
              <a:rPr sz="2000" b="1" spc="-95" dirty="0">
                <a:latin typeface="Times New Roman"/>
                <a:cs typeface="Times New Roman"/>
              </a:rPr>
              <a:t> </a:t>
            </a:r>
            <a:r>
              <a:rPr sz="2000" b="1" spc="-30" dirty="0">
                <a:latin typeface="Times New Roman"/>
                <a:cs typeface="Times New Roman"/>
              </a:rPr>
              <a:t>INT,</a:t>
            </a:r>
            <a:r>
              <a:rPr sz="2000" b="1" spc="-95" dirty="0">
                <a:latin typeface="Times New Roman"/>
                <a:cs typeface="Times New Roman"/>
              </a:rPr>
              <a:t> </a:t>
            </a:r>
            <a:r>
              <a:rPr sz="2000" b="1" spc="-20" dirty="0">
                <a:latin typeface="Times New Roman"/>
                <a:cs typeface="Times New Roman"/>
              </a:rPr>
              <a:t>HLT.</a:t>
            </a:r>
            <a:endParaRPr sz="2000" dirty="0">
              <a:latin typeface="Times New Roman"/>
              <a:cs typeface="Times New Roman"/>
            </a:endParaRPr>
          </a:p>
          <a:p>
            <a:pPr marL="255904" indent="-243204">
              <a:lnSpc>
                <a:spcPct val="100000"/>
              </a:lnSpc>
              <a:spcBef>
                <a:spcPts val="1610"/>
              </a:spcBef>
              <a:buSzPct val="90000"/>
              <a:buFont typeface="Wingdings"/>
              <a:buChar char=""/>
              <a:tabLst>
                <a:tab pos="255904" algn="l"/>
              </a:tabLst>
            </a:pPr>
            <a:r>
              <a:rPr sz="2000" b="1" dirty="0">
                <a:solidFill>
                  <a:srgbClr val="00AD50"/>
                </a:solidFill>
                <a:latin typeface="Times New Roman"/>
                <a:cs typeface="Times New Roman"/>
              </a:rPr>
              <a:t>Calling</a:t>
            </a:r>
            <a:r>
              <a:rPr sz="2000" b="1" spc="20" dirty="0">
                <a:solidFill>
                  <a:srgbClr val="00AD50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00AD50"/>
                </a:solidFill>
                <a:latin typeface="Times New Roman"/>
                <a:cs typeface="Times New Roman"/>
              </a:rPr>
              <a:t>Convention</a:t>
            </a:r>
            <a:r>
              <a:rPr sz="2000" spc="-10" dirty="0">
                <a:latin typeface="Times New Roman"/>
                <a:cs typeface="Times New Roman"/>
              </a:rPr>
              <a:t>:</a:t>
            </a:r>
            <a:r>
              <a:rPr sz="2000" spc="-1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Caller</a:t>
            </a:r>
            <a:r>
              <a:rPr sz="2000" spc="2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saves</a:t>
            </a:r>
            <a:r>
              <a:rPr sz="2000" spc="150" dirty="0">
                <a:latin typeface="Times New Roman"/>
                <a:cs typeface="Times New Roman"/>
              </a:rPr>
              <a:t> </a:t>
            </a:r>
            <a:r>
              <a:rPr sz="2000" spc="114" dirty="0">
                <a:latin typeface="Times New Roman"/>
                <a:cs typeface="Times New Roman"/>
              </a:rPr>
              <a:t>r0–r3,</a:t>
            </a:r>
            <a:r>
              <a:rPr sz="2000" spc="2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callee</a:t>
            </a:r>
            <a:r>
              <a:rPr sz="2000" spc="2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saves</a:t>
            </a:r>
            <a:r>
              <a:rPr sz="2000" spc="130" dirty="0">
                <a:latin typeface="Times New Roman"/>
                <a:cs typeface="Times New Roman"/>
              </a:rPr>
              <a:t> </a:t>
            </a:r>
            <a:r>
              <a:rPr sz="2000" spc="120" dirty="0">
                <a:latin typeface="Times New Roman"/>
                <a:cs typeface="Times New Roman"/>
              </a:rPr>
              <a:t>r4–r7</a:t>
            </a:r>
            <a:endParaRPr sz="2000" dirty="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1105"/>
              </a:spcBef>
            </a:pP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21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bp.</a:t>
            </a:r>
            <a:endParaRPr sz="2000" dirty="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77200" y="1600200"/>
            <a:ext cx="3200400" cy="426720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spc="-50" dirty="0"/>
              <a:t>4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8221" y="1600200"/>
            <a:ext cx="3235606" cy="42672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7140" y="1600200"/>
            <a:ext cx="2952750" cy="399018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53440" rIns="0" bIns="0" rtlCol="0">
            <a:spAutoFit/>
          </a:bodyPr>
          <a:lstStyle/>
          <a:p>
            <a:pPr marL="396240">
              <a:lnSpc>
                <a:spcPct val="100000"/>
              </a:lnSpc>
              <a:spcBef>
                <a:spcPts val="100"/>
              </a:spcBef>
            </a:pPr>
            <a:r>
              <a:rPr spc="145" dirty="0"/>
              <a:t>Binary</a:t>
            </a:r>
            <a:r>
              <a:rPr spc="190" dirty="0"/>
              <a:t> </a:t>
            </a:r>
            <a:r>
              <a:rPr spc="105" dirty="0"/>
              <a:t>Encoding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9130" y="1632685"/>
            <a:ext cx="5549265" cy="3711575"/>
          </a:xfrm>
          <a:prstGeom prst="rect">
            <a:avLst/>
          </a:prstGeom>
        </p:spPr>
        <p:txBody>
          <a:bodyPr vert="horz" wrap="square" lIns="0" tIns="11620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15"/>
              </a:spcBef>
              <a:buFont typeface="Wingdings"/>
              <a:buChar char=""/>
              <a:tabLst>
                <a:tab pos="240665" algn="l"/>
              </a:tabLst>
            </a:pPr>
            <a:r>
              <a:rPr sz="2000" dirty="0">
                <a:latin typeface="Times New Roman"/>
                <a:cs typeface="Times New Roman"/>
              </a:rPr>
              <a:t>Fixed</a:t>
            </a:r>
            <a:r>
              <a:rPr sz="2000" spc="2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32-</a:t>
            </a:r>
            <a:r>
              <a:rPr sz="2000" dirty="0">
                <a:latin typeface="Times New Roman"/>
                <a:cs typeface="Times New Roman"/>
              </a:rPr>
              <a:t>bit</a:t>
            </a:r>
            <a:r>
              <a:rPr sz="2000" spc="28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words.</a:t>
            </a:r>
            <a:endParaRPr sz="20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815"/>
              </a:spcBef>
              <a:buFont typeface="Wingdings"/>
              <a:buChar char=""/>
              <a:tabLst>
                <a:tab pos="240665" algn="l"/>
              </a:tabLst>
            </a:pPr>
            <a:r>
              <a:rPr sz="2000" dirty="0">
                <a:latin typeface="Times New Roman"/>
                <a:cs typeface="Times New Roman"/>
              </a:rPr>
              <a:t>Fields:</a:t>
            </a:r>
            <a:r>
              <a:rPr sz="2000" spc="20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OP(8)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|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MOD(4)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|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RD(4)</a:t>
            </a:r>
            <a:r>
              <a:rPr sz="2000" spc="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|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RS(4)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|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EXT(12).</a:t>
            </a:r>
            <a:endParaRPr sz="20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795"/>
              </a:spcBef>
              <a:buFont typeface="Wingdings"/>
              <a:buChar char=""/>
              <a:tabLst>
                <a:tab pos="240665" algn="l"/>
              </a:tabLst>
            </a:pPr>
            <a:r>
              <a:rPr sz="2000" dirty="0">
                <a:latin typeface="Times New Roman"/>
                <a:cs typeface="Times New Roman"/>
              </a:rPr>
              <a:t>Larger</a:t>
            </a:r>
            <a:r>
              <a:rPr sz="2000" spc="4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immediates</a:t>
            </a:r>
            <a:r>
              <a:rPr sz="2000" spc="4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use</a:t>
            </a:r>
            <a:r>
              <a:rPr sz="2000" spc="25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extra</a:t>
            </a:r>
            <a:r>
              <a:rPr sz="2000" spc="409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word.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610"/>
              </a:spcBef>
              <a:buFont typeface="Wingdings"/>
              <a:buChar char=""/>
            </a:pPr>
            <a:endParaRPr sz="20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5"/>
              </a:spcBef>
              <a:buFont typeface="Wingdings"/>
              <a:buChar char=""/>
              <a:tabLst>
                <a:tab pos="240665" algn="l"/>
              </a:tabLst>
            </a:pPr>
            <a:r>
              <a:rPr sz="2000" spc="-10" dirty="0">
                <a:solidFill>
                  <a:srgbClr val="00AD50"/>
                </a:solidFill>
                <a:latin typeface="Times New Roman"/>
                <a:cs typeface="Times New Roman"/>
              </a:rPr>
              <a:t>EXAMPLE: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995"/>
              </a:spcBef>
            </a:pPr>
            <a:endParaRPr sz="20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buChar char="•"/>
              <a:tabLst>
                <a:tab pos="240665" algn="l"/>
              </a:tabLst>
            </a:pPr>
            <a:r>
              <a:rPr sz="2000" dirty="0">
                <a:latin typeface="Times New Roman"/>
                <a:cs typeface="Times New Roman"/>
              </a:rPr>
              <a:t>ADD</a:t>
            </a:r>
            <a:r>
              <a:rPr sz="2000" spc="1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r1,</a:t>
            </a:r>
            <a:r>
              <a:rPr sz="2000" spc="1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r2</a:t>
            </a:r>
            <a:r>
              <a:rPr sz="2000" spc="2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;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OP=0x10</a:t>
            </a:r>
            <a:endParaRPr sz="20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795"/>
              </a:spcBef>
              <a:buChar char="•"/>
              <a:tabLst>
                <a:tab pos="240665" algn="l"/>
              </a:tabLst>
            </a:pPr>
            <a:r>
              <a:rPr sz="2000" dirty="0">
                <a:latin typeface="Times New Roman"/>
                <a:cs typeface="Times New Roman"/>
              </a:rPr>
              <a:t>LD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r3,</a:t>
            </a:r>
            <a:r>
              <a:rPr sz="2000" spc="204" dirty="0">
                <a:latin typeface="Times New Roman"/>
                <a:cs typeface="Times New Roman"/>
              </a:rPr>
              <a:t> </a:t>
            </a:r>
            <a:r>
              <a:rPr sz="2000" spc="55" dirty="0">
                <a:latin typeface="Times New Roman"/>
                <a:cs typeface="Times New Roman"/>
              </a:rPr>
              <a:t>[r4+16]</a:t>
            </a:r>
            <a:r>
              <a:rPr sz="2000" spc="1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;</a:t>
            </a:r>
            <a:r>
              <a:rPr sz="2000" spc="7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OP=0x21</a:t>
            </a:r>
            <a:endParaRPr sz="20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795"/>
              </a:spcBef>
              <a:buChar char="•"/>
              <a:tabLst>
                <a:tab pos="240665" algn="l"/>
              </a:tabLst>
            </a:pPr>
            <a:r>
              <a:rPr sz="2000" dirty="0">
                <a:latin typeface="Times New Roman"/>
                <a:cs typeface="Times New Roman"/>
              </a:rPr>
              <a:t>JZ</a:t>
            </a:r>
            <a:r>
              <a:rPr sz="2000" spc="1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label</a:t>
            </a:r>
            <a:r>
              <a:rPr sz="2000" spc="1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;</a:t>
            </a:r>
            <a:r>
              <a:rPr sz="2000" spc="114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OP=0x40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69480" y="1143000"/>
            <a:ext cx="3962400" cy="5239512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spc="-50" dirty="0"/>
              <a:t>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23646" rIns="0" bIns="0" rtlCol="0">
            <a:spAutoFit/>
          </a:bodyPr>
          <a:lstStyle/>
          <a:p>
            <a:pPr marL="42672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Assembly</a:t>
            </a:r>
            <a:r>
              <a:rPr spc="-240" dirty="0"/>
              <a:t> </a:t>
            </a:r>
            <a:r>
              <a:rPr spc="45" dirty="0"/>
              <a:t>Language</a:t>
            </a:r>
            <a:r>
              <a:rPr spc="-325" dirty="0"/>
              <a:t> </a:t>
            </a:r>
            <a:r>
              <a:rPr spc="-10" dirty="0"/>
              <a:t>Syntax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4538" y="1339555"/>
            <a:ext cx="6431280" cy="4870450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252729" indent="-227965">
              <a:lnSpc>
                <a:spcPct val="100000"/>
              </a:lnSpc>
              <a:spcBef>
                <a:spcPts val="815"/>
              </a:spcBef>
              <a:buFont typeface="Wingdings"/>
              <a:buChar char=""/>
              <a:tabLst>
                <a:tab pos="252729" algn="l"/>
              </a:tabLst>
            </a:pPr>
            <a:r>
              <a:rPr sz="2000" spc="55" dirty="0">
                <a:latin typeface="Times New Roman"/>
                <a:cs typeface="Times New Roman"/>
              </a:rPr>
              <a:t>Identifiers,</a:t>
            </a:r>
            <a:r>
              <a:rPr sz="2000" spc="4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numbers</a:t>
            </a:r>
            <a:r>
              <a:rPr sz="2000" spc="1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(dec/hex/bin),</a:t>
            </a:r>
            <a:r>
              <a:rPr sz="2000" spc="6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comments</a:t>
            </a:r>
            <a:r>
              <a:rPr sz="2000" spc="95" dirty="0">
                <a:latin typeface="Times New Roman"/>
                <a:cs typeface="Times New Roman"/>
              </a:rPr>
              <a:t>  </a:t>
            </a:r>
            <a:r>
              <a:rPr sz="2000" spc="-20" dirty="0">
                <a:latin typeface="Times New Roman"/>
                <a:cs typeface="Times New Roman"/>
              </a:rPr>
              <a:t>(;).</a:t>
            </a:r>
            <a:endParaRPr sz="2000" dirty="0">
              <a:latin typeface="Times New Roman"/>
              <a:cs typeface="Times New Roman"/>
            </a:endParaRPr>
          </a:p>
          <a:p>
            <a:pPr marL="252729" indent="-227965">
              <a:lnSpc>
                <a:spcPct val="100000"/>
              </a:lnSpc>
              <a:spcBef>
                <a:spcPts val="720"/>
              </a:spcBef>
              <a:buFont typeface="Wingdings"/>
              <a:buChar char=""/>
              <a:tabLst>
                <a:tab pos="252729" algn="l"/>
              </a:tabLst>
            </a:pPr>
            <a:r>
              <a:rPr sz="2000" spc="55" dirty="0">
                <a:latin typeface="Times New Roman"/>
                <a:cs typeface="Times New Roman"/>
              </a:rPr>
              <a:t>Directives:</a:t>
            </a:r>
            <a:r>
              <a:rPr sz="2000" spc="3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.text,</a:t>
            </a:r>
            <a:r>
              <a:rPr sz="2000" spc="3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.data,</a:t>
            </a:r>
            <a:r>
              <a:rPr sz="2000" spc="3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.bss,</a:t>
            </a:r>
            <a:r>
              <a:rPr sz="2000" spc="225" dirty="0">
                <a:latin typeface="Times New Roman"/>
                <a:cs typeface="Times New Roman"/>
              </a:rPr>
              <a:t> </a:t>
            </a:r>
            <a:r>
              <a:rPr sz="2000" spc="55" dirty="0">
                <a:latin typeface="Times New Roman"/>
                <a:cs typeface="Times New Roman"/>
              </a:rPr>
              <a:t>.global,</a:t>
            </a:r>
            <a:r>
              <a:rPr sz="2000" spc="2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.byte,</a:t>
            </a:r>
            <a:r>
              <a:rPr sz="2000" spc="3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.word,</a:t>
            </a:r>
            <a:r>
              <a:rPr sz="2000" spc="434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.asciz.</a:t>
            </a:r>
            <a:endParaRPr sz="2000" dirty="0">
              <a:latin typeface="Times New Roman"/>
              <a:cs typeface="Times New Roman"/>
            </a:endParaRPr>
          </a:p>
          <a:p>
            <a:pPr marL="252729" indent="-227965">
              <a:lnSpc>
                <a:spcPct val="100000"/>
              </a:lnSpc>
              <a:spcBef>
                <a:spcPts val="795"/>
              </a:spcBef>
              <a:buFont typeface="Wingdings"/>
              <a:buChar char=""/>
              <a:tabLst>
                <a:tab pos="252729" algn="l"/>
              </a:tabLst>
            </a:pPr>
            <a:r>
              <a:rPr sz="2000" spc="55" dirty="0">
                <a:latin typeface="Times New Roman"/>
                <a:cs typeface="Times New Roman"/>
              </a:rPr>
              <a:t>Supports</a:t>
            </a:r>
            <a:r>
              <a:rPr sz="2000" spc="3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labels,</a:t>
            </a:r>
            <a:r>
              <a:rPr sz="2000" spc="290" dirty="0">
                <a:latin typeface="Times New Roman"/>
                <a:cs typeface="Times New Roman"/>
              </a:rPr>
              <a:t> </a:t>
            </a:r>
            <a:r>
              <a:rPr sz="2000" spc="45" dirty="0">
                <a:latin typeface="Times New Roman"/>
                <a:cs typeface="Times New Roman"/>
              </a:rPr>
              <a:t>macros,</a:t>
            </a:r>
            <a:r>
              <a:rPr sz="2000" spc="2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includes.</a:t>
            </a:r>
            <a:endParaRPr sz="2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805"/>
              </a:spcBef>
              <a:buFont typeface="Wingdings"/>
              <a:buChar char=""/>
            </a:pPr>
            <a:endParaRPr sz="2000" dirty="0">
              <a:latin typeface="Times New Roman"/>
              <a:cs typeface="Times New Roman"/>
            </a:endParaRPr>
          </a:p>
          <a:p>
            <a:pPr marL="267970" indent="-255270">
              <a:lnSpc>
                <a:spcPct val="100000"/>
              </a:lnSpc>
              <a:buSzPct val="95000"/>
              <a:buFont typeface="Wingdings"/>
              <a:buChar char=""/>
              <a:tabLst>
                <a:tab pos="267970" algn="l"/>
              </a:tabLst>
            </a:pPr>
            <a:r>
              <a:rPr sz="2000" b="1" spc="-10" dirty="0">
                <a:solidFill>
                  <a:srgbClr val="00AD50"/>
                </a:solidFill>
                <a:latin typeface="Times New Roman"/>
                <a:cs typeface="Times New Roman"/>
              </a:rPr>
              <a:t>Example:</a:t>
            </a:r>
            <a:endParaRPr sz="2000" dirty="0">
              <a:latin typeface="Times New Roman"/>
              <a:cs typeface="Times New Roman"/>
            </a:endParaRPr>
          </a:p>
          <a:p>
            <a:pPr marL="253365" indent="-228600">
              <a:lnSpc>
                <a:spcPct val="100000"/>
              </a:lnSpc>
              <a:spcBef>
                <a:spcPts val="795"/>
              </a:spcBef>
              <a:buChar char="•"/>
              <a:tabLst>
                <a:tab pos="253365" algn="l"/>
              </a:tabLst>
            </a:pPr>
            <a:r>
              <a:rPr sz="2000" spc="-10" dirty="0">
                <a:latin typeface="Times New Roman"/>
                <a:cs typeface="Times New Roman"/>
              </a:rPr>
              <a:t>.text</a:t>
            </a:r>
            <a:endParaRPr sz="2000" dirty="0">
              <a:latin typeface="Times New Roman"/>
              <a:cs typeface="Times New Roman"/>
            </a:endParaRPr>
          </a:p>
          <a:p>
            <a:pPr marL="253365" indent="-228600">
              <a:lnSpc>
                <a:spcPct val="100000"/>
              </a:lnSpc>
              <a:spcBef>
                <a:spcPts val="795"/>
              </a:spcBef>
              <a:buChar char="•"/>
              <a:tabLst>
                <a:tab pos="253365" algn="l"/>
              </a:tabLst>
            </a:pPr>
            <a:r>
              <a:rPr sz="2000" dirty="0">
                <a:latin typeface="Times New Roman"/>
                <a:cs typeface="Times New Roman"/>
              </a:rPr>
              <a:t>.global</a:t>
            </a:r>
            <a:r>
              <a:rPr sz="2000" spc="5" dirty="0">
                <a:latin typeface="Times New Roman"/>
                <a:cs typeface="Times New Roman"/>
              </a:rPr>
              <a:t>  </a:t>
            </a:r>
            <a:r>
              <a:rPr sz="2000" spc="-10" dirty="0">
                <a:latin typeface="Times New Roman"/>
                <a:cs typeface="Times New Roman"/>
              </a:rPr>
              <a:t>_start</a:t>
            </a:r>
            <a:endParaRPr sz="2000" dirty="0">
              <a:latin typeface="Times New Roman"/>
              <a:cs typeface="Times New Roman"/>
            </a:endParaRPr>
          </a:p>
          <a:p>
            <a:pPr marL="253365" indent="-228600">
              <a:lnSpc>
                <a:spcPct val="100000"/>
              </a:lnSpc>
              <a:spcBef>
                <a:spcPts val="720"/>
              </a:spcBef>
              <a:buChar char="•"/>
              <a:tabLst>
                <a:tab pos="253365" algn="l"/>
              </a:tabLst>
            </a:pPr>
            <a:r>
              <a:rPr sz="2000" spc="-10" dirty="0">
                <a:latin typeface="Times New Roman"/>
                <a:cs typeface="Times New Roman"/>
              </a:rPr>
              <a:t>_start:</a:t>
            </a:r>
            <a:endParaRPr sz="2000" dirty="0">
              <a:latin typeface="Times New Roman"/>
              <a:cs typeface="Times New Roman"/>
            </a:endParaRPr>
          </a:p>
          <a:p>
            <a:pPr marL="253365" indent="-228600">
              <a:lnSpc>
                <a:spcPct val="100000"/>
              </a:lnSpc>
              <a:spcBef>
                <a:spcPts val="795"/>
              </a:spcBef>
              <a:buChar char="•"/>
              <a:tabLst>
                <a:tab pos="253365" algn="l"/>
              </a:tabLst>
            </a:pPr>
            <a:r>
              <a:rPr sz="2000" dirty="0">
                <a:latin typeface="Times New Roman"/>
                <a:cs typeface="Times New Roman"/>
              </a:rPr>
              <a:t>MOV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r0,</a:t>
            </a:r>
            <a:r>
              <a:rPr sz="2000" spc="18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#5</a:t>
            </a:r>
            <a:endParaRPr sz="2000" dirty="0">
              <a:latin typeface="Times New Roman"/>
              <a:cs typeface="Times New Roman"/>
            </a:endParaRPr>
          </a:p>
          <a:p>
            <a:pPr marL="253365" indent="-228600">
              <a:lnSpc>
                <a:spcPct val="100000"/>
              </a:lnSpc>
              <a:spcBef>
                <a:spcPts val="795"/>
              </a:spcBef>
              <a:buChar char="•"/>
              <a:tabLst>
                <a:tab pos="253365" algn="l"/>
              </a:tabLst>
            </a:pPr>
            <a:r>
              <a:rPr sz="2000" dirty="0">
                <a:latin typeface="Times New Roman"/>
                <a:cs typeface="Times New Roman"/>
              </a:rPr>
              <a:t>MOV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r1,</a:t>
            </a:r>
            <a:r>
              <a:rPr sz="2000" spc="16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#7</a:t>
            </a:r>
            <a:endParaRPr sz="2000" dirty="0">
              <a:latin typeface="Times New Roman"/>
              <a:cs typeface="Times New Roman"/>
            </a:endParaRPr>
          </a:p>
          <a:p>
            <a:pPr marL="253365" indent="-228600">
              <a:lnSpc>
                <a:spcPct val="100000"/>
              </a:lnSpc>
              <a:spcBef>
                <a:spcPts val="695"/>
              </a:spcBef>
              <a:buChar char="•"/>
              <a:tabLst>
                <a:tab pos="253365" algn="l"/>
              </a:tabLst>
            </a:pPr>
            <a:r>
              <a:rPr sz="2000" dirty="0">
                <a:latin typeface="Times New Roman"/>
                <a:cs typeface="Times New Roman"/>
              </a:rPr>
              <a:t>ADD</a:t>
            </a:r>
            <a:r>
              <a:rPr sz="2000" spc="1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r0,</a:t>
            </a:r>
            <a:r>
              <a:rPr sz="2000" spc="195" dirty="0">
                <a:latin typeface="Times New Roman"/>
                <a:cs typeface="Times New Roman"/>
              </a:rPr>
              <a:t> </a:t>
            </a:r>
            <a:r>
              <a:rPr sz="2000" spc="45" dirty="0">
                <a:latin typeface="Times New Roman"/>
                <a:cs typeface="Times New Roman"/>
              </a:rPr>
              <a:t>r1</a:t>
            </a:r>
            <a:endParaRPr sz="2000" dirty="0">
              <a:latin typeface="Times New Roman"/>
              <a:cs typeface="Times New Roman"/>
            </a:endParaRPr>
          </a:p>
          <a:p>
            <a:pPr marL="253365" indent="-228600">
              <a:lnSpc>
                <a:spcPct val="100000"/>
              </a:lnSpc>
              <a:spcBef>
                <a:spcPts val="815"/>
              </a:spcBef>
              <a:buChar char="•"/>
              <a:tabLst>
                <a:tab pos="253365" algn="l"/>
              </a:tabLst>
            </a:pPr>
            <a:r>
              <a:rPr sz="2000" spc="-25" dirty="0">
                <a:latin typeface="Times New Roman"/>
                <a:cs typeface="Times New Roman"/>
              </a:rPr>
              <a:t>HLT</a:t>
            </a:r>
            <a:endParaRPr sz="2000" dirty="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9047" y="2557272"/>
            <a:ext cx="4916424" cy="340766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spc="-50" dirty="0"/>
              <a:t>6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9047" y="2557272"/>
            <a:ext cx="4916423" cy="340766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6120" y="1766991"/>
            <a:ext cx="4259188" cy="2880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53440" rIns="0" bIns="0" rtlCol="0">
            <a:spAutoFit/>
          </a:bodyPr>
          <a:lstStyle/>
          <a:p>
            <a:pPr marL="625475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Toolchain</a:t>
            </a:r>
            <a:r>
              <a:rPr spc="-325" dirty="0"/>
              <a:t> </a:t>
            </a:r>
            <a:r>
              <a:rPr spc="55" dirty="0"/>
              <a:t>Architecture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29234" y="2071243"/>
            <a:ext cx="5497830" cy="207073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46379" indent="-233679">
              <a:lnSpc>
                <a:spcPts val="2305"/>
              </a:lnSpc>
              <a:spcBef>
                <a:spcPts val="90"/>
              </a:spcBef>
              <a:buSzPct val="92500"/>
              <a:buFont typeface="Wingdings"/>
              <a:buChar char=""/>
              <a:tabLst>
                <a:tab pos="246379" algn="l"/>
              </a:tabLst>
            </a:pPr>
            <a:r>
              <a:rPr sz="2000" b="1" dirty="0">
                <a:latin typeface="Times New Roman"/>
                <a:cs typeface="Times New Roman"/>
              </a:rPr>
              <a:t>Assembler</a:t>
            </a:r>
            <a:r>
              <a:rPr sz="2000" dirty="0">
                <a:latin typeface="Times New Roman"/>
                <a:cs typeface="Times New Roman"/>
              </a:rPr>
              <a:t>: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Lexer</a:t>
            </a:r>
            <a:r>
              <a:rPr sz="2000" spc="2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→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Parser</a:t>
            </a:r>
            <a:r>
              <a:rPr sz="2000" spc="20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→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IR</a:t>
            </a:r>
            <a:r>
              <a:rPr sz="2000" spc="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→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spc="50" dirty="0">
                <a:latin typeface="Times New Roman"/>
                <a:cs typeface="Times New Roman"/>
              </a:rPr>
              <a:t>Encoder</a:t>
            </a:r>
            <a:r>
              <a:rPr sz="2000" spc="204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Times New Roman"/>
                <a:cs typeface="Times New Roman"/>
              </a:rPr>
              <a:t>→</a:t>
            </a:r>
            <a:endParaRPr sz="2000">
              <a:latin typeface="Times New Roman"/>
              <a:cs typeface="Times New Roman"/>
            </a:endParaRPr>
          </a:p>
          <a:p>
            <a:pPr marL="247015">
              <a:lnSpc>
                <a:spcPts val="2305"/>
              </a:lnSpc>
            </a:pPr>
            <a:r>
              <a:rPr sz="2000" spc="55" dirty="0">
                <a:latin typeface="Times New Roman"/>
                <a:cs typeface="Times New Roman"/>
              </a:rPr>
              <a:t>Object</a:t>
            </a:r>
            <a:r>
              <a:rPr sz="2000" spc="11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file.</a:t>
            </a:r>
            <a:endParaRPr sz="2000">
              <a:latin typeface="Times New Roman"/>
              <a:cs typeface="Times New Roman"/>
            </a:endParaRPr>
          </a:p>
          <a:p>
            <a:pPr marL="246379" indent="-233679">
              <a:lnSpc>
                <a:spcPct val="100000"/>
              </a:lnSpc>
              <a:spcBef>
                <a:spcPts val="600"/>
              </a:spcBef>
              <a:buSzPct val="92500"/>
              <a:buFont typeface="Wingdings"/>
              <a:buChar char=""/>
              <a:tabLst>
                <a:tab pos="246379" algn="l"/>
              </a:tabLst>
            </a:pPr>
            <a:r>
              <a:rPr sz="2000" b="1" spc="-10" dirty="0">
                <a:latin typeface="Times New Roman"/>
                <a:cs typeface="Times New Roman"/>
              </a:rPr>
              <a:t>Linker:</a:t>
            </a:r>
            <a:r>
              <a:rPr sz="2000" b="1" spc="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Combines</a:t>
            </a:r>
            <a:r>
              <a:rPr sz="2000" spc="360" dirty="0">
                <a:latin typeface="Times New Roman"/>
                <a:cs typeface="Times New Roman"/>
              </a:rPr>
              <a:t> </a:t>
            </a:r>
            <a:r>
              <a:rPr sz="2000" spc="55" dirty="0">
                <a:latin typeface="Times New Roman"/>
                <a:cs typeface="Times New Roman"/>
              </a:rPr>
              <a:t>objects</a:t>
            </a:r>
            <a:r>
              <a:rPr sz="2000" spc="2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into</a:t>
            </a:r>
            <a:r>
              <a:rPr sz="2000" spc="21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executable.</a:t>
            </a:r>
            <a:endParaRPr sz="2000">
              <a:latin typeface="Times New Roman"/>
              <a:cs typeface="Times New Roman"/>
            </a:endParaRPr>
          </a:p>
          <a:p>
            <a:pPr marL="246379" indent="-227965">
              <a:lnSpc>
                <a:spcPct val="100000"/>
              </a:lnSpc>
              <a:spcBef>
                <a:spcPts val="795"/>
              </a:spcBef>
              <a:buFont typeface="Wingdings"/>
              <a:buChar char=""/>
              <a:tabLst>
                <a:tab pos="246379" algn="l"/>
              </a:tabLst>
            </a:pPr>
            <a:r>
              <a:rPr sz="2000" b="1" dirty="0">
                <a:latin typeface="Times New Roman"/>
                <a:cs typeface="Times New Roman"/>
              </a:rPr>
              <a:t>VM</a:t>
            </a:r>
            <a:r>
              <a:rPr sz="2000" b="1" spc="26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(Interpreter):</a:t>
            </a:r>
            <a:r>
              <a:rPr sz="2000" b="1" spc="27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Fetch-</a:t>
            </a:r>
            <a:r>
              <a:rPr sz="2000" spc="90" dirty="0">
                <a:latin typeface="Times New Roman"/>
                <a:cs typeface="Times New Roman"/>
              </a:rPr>
              <a:t>decode-</a:t>
            </a:r>
            <a:r>
              <a:rPr sz="2000" dirty="0">
                <a:latin typeface="Times New Roman"/>
                <a:cs typeface="Times New Roman"/>
              </a:rPr>
              <a:t>execute</a:t>
            </a:r>
            <a:r>
              <a:rPr sz="2000" spc="4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loop.</a:t>
            </a:r>
            <a:endParaRPr sz="2000">
              <a:latin typeface="Times New Roman"/>
              <a:cs typeface="Times New Roman"/>
            </a:endParaRPr>
          </a:p>
          <a:p>
            <a:pPr marL="245745" marR="1231900" indent="-233679">
              <a:lnSpc>
                <a:spcPts val="2280"/>
              </a:lnSpc>
              <a:spcBef>
                <a:spcPts val="805"/>
              </a:spcBef>
              <a:buSzPct val="92500"/>
              <a:buFont typeface="Wingdings"/>
              <a:buChar char=""/>
              <a:tabLst>
                <a:tab pos="247015" algn="l"/>
              </a:tabLst>
            </a:pPr>
            <a:r>
              <a:rPr sz="2000" b="1" dirty="0">
                <a:latin typeface="Times New Roman"/>
                <a:cs typeface="Times New Roman"/>
              </a:rPr>
              <a:t>Debugger: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spc="55" dirty="0">
                <a:latin typeface="Times New Roman"/>
                <a:cs typeface="Times New Roman"/>
              </a:rPr>
              <a:t>Breakpoints,</a:t>
            </a:r>
            <a:r>
              <a:rPr sz="2000" spc="1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step,</a:t>
            </a:r>
            <a:r>
              <a:rPr sz="2000" spc="204" dirty="0">
                <a:latin typeface="Times New Roman"/>
                <a:cs typeface="Times New Roman"/>
              </a:rPr>
              <a:t> </a:t>
            </a:r>
            <a:r>
              <a:rPr sz="2000" spc="40" dirty="0">
                <a:latin typeface="Times New Roman"/>
                <a:cs typeface="Times New Roman"/>
              </a:rPr>
              <a:t>inspect 	</a:t>
            </a:r>
            <a:r>
              <a:rPr sz="2000" spc="-10" dirty="0">
                <a:latin typeface="Times New Roman"/>
                <a:cs typeface="Times New Roman"/>
              </a:rPr>
              <a:t>registers/memory.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43800" y="1365503"/>
            <a:ext cx="3429000" cy="481584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spc="-50" dirty="0"/>
              <a:t>7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1365503"/>
            <a:ext cx="3428999" cy="481584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799" y="1196752"/>
            <a:ext cx="3952801" cy="460851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70534" rIns="0" bIns="0" rtlCol="0">
            <a:spAutoFit/>
          </a:bodyPr>
          <a:lstStyle/>
          <a:p>
            <a:pPr marL="1652270">
              <a:lnSpc>
                <a:spcPct val="100000"/>
              </a:lnSpc>
              <a:spcBef>
                <a:spcPts val="100"/>
              </a:spcBef>
            </a:pPr>
            <a:r>
              <a:rPr dirty="0"/>
              <a:t>Implementation</a:t>
            </a:r>
            <a:r>
              <a:rPr spc="530" dirty="0"/>
              <a:t> </a:t>
            </a:r>
            <a:r>
              <a:rPr spc="-20" dirty="0"/>
              <a:t>Plan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330" y="1934336"/>
            <a:ext cx="5852160" cy="31083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5904" marR="491490" indent="-243840">
              <a:lnSpc>
                <a:spcPct val="100000"/>
              </a:lnSpc>
              <a:spcBef>
                <a:spcPts val="100"/>
              </a:spcBef>
              <a:buSzPct val="91666"/>
              <a:buFont typeface="Wingdings"/>
              <a:buChar char=""/>
              <a:tabLst>
                <a:tab pos="255904" algn="l"/>
              </a:tabLst>
            </a:pPr>
            <a:r>
              <a:rPr sz="2400" b="1" dirty="0">
                <a:latin typeface="Times New Roman"/>
                <a:cs typeface="Times New Roman"/>
              </a:rPr>
              <a:t>Phase</a:t>
            </a:r>
            <a:r>
              <a:rPr sz="2400" b="1" spc="-7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1</a:t>
            </a:r>
            <a:r>
              <a:rPr sz="2400" b="1" spc="-7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–</a:t>
            </a:r>
            <a:r>
              <a:rPr sz="2400" b="1" spc="-120" dirty="0">
                <a:latin typeface="Times New Roman"/>
                <a:cs typeface="Times New Roman"/>
              </a:rPr>
              <a:t> </a:t>
            </a:r>
            <a:r>
              <a:rPr sz="2400" b="1" spc="-20" dirty="0">
                <a:latin typeface="Times New Roman"/>
                <a:cs typeface="Times New Roman"/>
              </a:rPr>
              <a:t>Assembler</a:t>
            </a:r>
            <a:r>
              <a:rPr sz="2400" b="1" spc="-13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Core</a:t>
            </a:r>
            <a:r>
              <a:rPr sz="2400" spc="-10" dirty="0">
                <a:latin typeface="Times New Roman"/>
                <a:cs typeface="Times New Roman"/>
              </a:rPr>
              <a:t>:</a:t>
            </a:r>
            <a:r>
              <a:rPr sz="2400" spc="-114" dirty="0">
                <a:latin typeface="Times New Roman"/>
                <a:cs typeface="Times New Roman"/>
              </a:rPr>
              <a:t> </a:t>
            </a:r>
            <a:r>
              <a:rPr sz="2400" spc="-35" dirty="0">
                <a:latin typeface="Times New Roman"/>
                <a:cs typeface="Times New Roman"/>
              </a:rPr>
              <a:t>Lexer,</a:t>
            </a:r>
            <a:r>
              <a:rPr sz="2400" spc="-25" dirty="0">
                <a:latin typeface="Times New Roman"/>
                <a:cs typeface="Times New Roman"/>
              </a:rPr>
              <a:t> parser, </a:t>
            </a:r>
            <a:r>
              <a:rPr sz="2400" spc="-10" dirty="0">
                <a:latin typeface="Times New Roman"/>
                <a:cs typeface="Times New Roman"/>
              </a:rPr>
              <a:t>encoder.</a:t>
            </a:r>
            <a:endParaRPr sz="2400" dirty="0">
              <a:latin typeface="Times New Roman"/>
              <a:cs typeface="Times New Roman"/>
            </a:endParaRPr>
          </a:p>
          <a:p>
            <a:pPr marL="255904" indent="-243204">
              <a:lnSpc>
                <a:spcPts val="2795"/>
              </a:lnSpc>
              <a:spcBef>
                <a:spcPts val="505"/>
              </a:spcBef>
              <a:buSzPct val="91666"/>
              <a:buFont typeface="Wingdings"/>
              <a:buChar char=""/>
              <a:tabLst>
                <a:tab pos="255904" algn="l"/>
              </a:tabLst>
            </a:pPr>
            <a:r>
              <a:rPr sz="2400" b="1" dirty="0">
                <a:latin typeface="Times New Roman"/>
                <a:cs typeface="Times New Roman"/>
              </a:rPr>
              <a:t>Phase</a:t>
            </a:r>
            <a:r>
              <a:rPr sz="2400" b="1" spc="1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2</a:t>
            </a:r>
            <a:r>
              <a:rPr sz="2400" b="1" spc="-5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–</a:t>
            </a:r>
            <a:r>
              <a:rPr sz="2400" b="1" spc="-1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VM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b="1" spc="-35" dirty="0">
                <a:latin typeface="Times New Roman"/>
                <a:cs typeface="Times New Roman"/>
              </a:rPr>
              <a:t>Interpreter</a:t>
            </a:r>
            <a:r>
              <a:rPr sz="2400" spc="-35" dirty="0">
                <a:latin typeface="Times New Roman"/>
                <a:cs typeface="Times New Roman"/>
              </a:rPr>
              <a:t>:</a:t>
            </a:r>
            <a:r>
              <a:rPr sz="2400" spc="-1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CPU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state,</a:t>
            </a:r>
            <a:endParaRPr sz="2400" dirty="0">
              <a:latin typeface="Times New Roman"/>
              <a:cs typeface="Times New Roman"/>
            </a:endParaRPr>
          </a:p>
          <a:p>
            <a:pPr marL="241300">
              <a:lnSpc>
                <a:spcPts val="2795"/>
              </a:lnSpc>
            </a:pPr>
            <a:r>
              <a:rPr sz="2400" dirty="0">
                <a:latin typeface="Times New Roman"/>
                <a:cs typeface="Times New Roman"/>
              </a:rPr>
              <a:t>memory,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execution</a:t>
            </a:r>
            <a:r>
              <a:rPr sz="2400" spc="-1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loop.</a:t>
            </a:r>
            <a:endParaRPr sz="2400" dirty="0">
              <a:latin typeface="Times New Roman"/>
              <a:cs typeface="Times New Roman"/>
            </a:endParaRPr>
          </a:p>
          <a:p>
            <a:pPr marL="255904" indent="-243204">
              <a:lnSpc>
                <a:spcPct val="100000"/>
              </a:lnSpc>
              <a:spcBef>
                <a:spcPts val="600"/>
              </a:spcBef>
              <a:buSzPct val="91666"/>
              <a:buFont typeface="Wingdings"/>
              <a:buChar char=""/>
              <a:tabLst>
                <a:tab pos="255904" algn="l"/>
              </a:tabLst>
            </a:pPr>
            <a:r>
              <a:rPr sz="2400" b="1" dirty="0">
                <a:latin typeface="Times New Roman"/>
                <a:cs typeface="Times New Roman"/>
              </a:rPr>
              <a:t>Phase</a:t>
            </a:r>
            <a:r>
              <a:rPr sz="2400" b="1" spc="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3 –</a:t>
            </a:r>
            <a:r>
              <a:rPr sz="2400" b="1" spc="70" dirty="0">
                <a:latin typeface="Times New Roman"/>
                <a:cs typeface="Times New Roman"/>
              </a:rPr>
              <a:t> </a:t>
            </a:r>
            <a:r>
              <a:rPr sz="2400" b="1" spc="-30" dirty="0">
                <a:latin typeface="Times New Roman"/>
                <a:cs typeface="Times New Roman"/>
              </a:rPr>
              <a:t>Tooling</a:t>
            </a:r>
            <a:r>
              <a:rPr sz="2400" spc="-30" dirty="0">
                <a:latin typeface="Times New Roman"/>
                <a:cs typeface="Times New Roman"/>
              </a:rPr>
              <a:t>:</a:t>
            </a:r>
            <a:r>
              <a:rPr sz="2400" spc="-225" dirty="0">
                <a:latin typeface="Times New Roman"/>
                <a:cs typeface="Times New Roman"/>
              </a:rPr>
              <a:t> </a:t>
            </a:r>
            <a:r>
              <a:rPr sz="2400" spc="-35" dirty="0">
                <a:latin typeface="Times New Roman"/>
                <a:cs typeface="Times New Roman"/>
              </a:rPr>
              <a:t>Disassembler,</a:t>
            </a:r>
            <a:r>
              <a:rPr sz="2400" spc="-1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linker,</a:t>
            </a:r>
            <a:endParaRPr sz="2400" dirty="0">
              <a:latin typeface="Times New Roman"/>
              <a:cs typeface="Times New Roman"/>
            </a:endParaRPr>
          </a:p>
          <a:p>
            <a:pPr marL="255904">
              <a:lnSpc>
                <a:spcPct val="100000"/>
              </a:lnSpc>
              <a:spcBef>
                <a:spcPts val="5"/>
              </a:spcBef>
            </a:pPr>
            <a:r>
              <a:rPr sz="2400" spc="-10" dirty="0">
                <a:latin typeface="Times New Roman"/>
                <a:cs typeface="Times New Roman"/>
              </a:rPr>
              <a:t>debugger.</a:t>
            </a:r>
            <a:endParaRPr sz="2400" dirty="0">
              <a:latin typeface="Times New Roman"/>
              <a:cs typeface="Times New Roman"/>
            </a:endParaRPr>
          </a:p>
          <a:p>
            <a:pPr marL="241300" marR="5080" indent="-228600">
              <a:lnSpc>
                <a:spcPts val="2660"/>
              </a:lnSpc>
              <a:spcBef>
                <a:spcPts val="775"/>
              </a:spcBef>
              <a:buSzPct val="91666"/>
              <a:buFont typeface="Wingdings"/>
              <a:buChar char=""/>
              <a:tabLst>
                <a:tab pos="241300" algn="l"/>
                <a:tab pos="255904" algn="l"/>
              </a:tabLst>
            </a:pP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b="1" dirty="0">
                <a:latin typeface="Times New Roman"/>
                <a:cs typeface="Times New Roman"/>
              </a:rPr>
              <a:t>Phase</a:t>
            </a:r>
            <a:r>
              <a:rPr sz="2400" b="1" spc="1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4</a:t>
            </a:r>
            <a:r>
              <a:rPr sz="2400" b="1" spc="1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–</a:t>
            </a:r>
            <a:r>
              <a:rPr sz="2400" b="1" spc="10" dirty="0">
                <a:latin typeface="Times New Roman"/>
                <a:cs typeface="Times New Roman"/>
              </a:rPr>
              <a:t> </a:t>
            </a:r>
            <a:r>
              <a:rPr sz="2400" b="1" spc="-35" dirty="0">
                <a:latin typeface="Times New Roman"/>
                <a:cs typeface="Times New Roman"/>
              </a:rPr>
              <a:t>Optimization</a:t>
            </a:r>
            <a:r>
              <a:rPr sz="2400" b="1" spc="-10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(optional)</a:t>
            </a:r>
            <a:r>
              <a:rPr sz="2400" spc="-10" dirty="0">
                <a:latin typeface="Times New Roman"/>
                <a:cs typeface="Times New Roman"/>
              </a:rPr>
              <a:t>:</a:t>
            </a:r>
            <a:r>
              <a:rPr sz="2400" spc="-10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Peephole </a:t>
            </a:r>
            <a:r>
              <a:rPr sz="2400" spc="-30" dirty="0">
                <a:latin typeface="Times New Roman"/>
                <a:cs typeface="Times New Roman"/>
              </a:rPr>
              <a:t>optimizer,</a:t>
            </a:r>
            <a:r>
              <a:rPr sz="2400" spc="-2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JIT</a:t>
            </a:r>
            <a:r>
              <a:rPr sz="2400" spc="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prototype</a:t>
            </a:r>
            <a:r>
              <a:rPr sz="2400" spc="-1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15200" y="1600200"/>
            <a:ext cx="4495800" cy="449580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182857" y="6412179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868686"/>
                </a:solidFill>
                <a:latin typeface="Calibri"/>
                <a:cs typeface="Calibri"/>
              </a:rPr>
              <a:t>8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97686" y="6639464"/>
            <a:ext cx="3016885" cy="156845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900" u="sng" dirty="0">
                <a:solidFill>
                  <a:srgbClr val="0460C1"/>
                </a:solidFill>
                <a:uFill>
                  <a:solidFill>
                    <a:srgbClr val="0460C1"/>
                  </a:solidFill>
                </a:uFill>
                <a:latin typeface="Microsoft Sans Serif"/>
                <a:cs typeface="Microsoft Sans Serif"/>
                <a:hlinkClick r:id="rId3"/>
              </a:rPr>
              <a:t>This</a:t>
            </a:r>
            <a:r>
              <a:rPr sz="900" u="sng" spc="-85" dirty="0">
                <a:solidFill>
                  <a:srgbClr val="0460C1"/>
                </a:solidFill>
                <a:uFill>
                  <a:solidFill>
                    <a:srgbClr val="0460C1"/>
                  </a:solidFill>
                </a:uFill>
                <a:latin typeface="Microsoft Sans Serif"/>
                <a:cs typeface="Microsoft Sans Serif"/>
                <a:hlinkClick r:id="rId3"/>
              </a:rPr>
              <a:t> </a:t>
            </a:r>
            <a:r>
              <a:rPr sz="900" u="sng" dirty="0">
                <a:solidFill>
                  <a:srgbClr val="0460C1"/>
                </a:solidFill>
                <a:uFill>
                  <a:solidFill>
                    <a:srgbClr val="0460C1"/>
                  </a:solidFill>
                </a:uFill>
                <a:latin typeface="Microsoft Sans Serif"/>
                <a:cs typeface="Microsoft Sans Serif"/>
                <a:hlinkClick r:id="rId3"/>
              </a:rPr>
              <a:t>Photo</a:t>
            </a:r>
            <a:r>
              <a:rPr sz="900" spc="-60" dirty="0">
                <a:solidFill>
                  <a:srgbClr val="0460C1"/>
                </a:solidFill>
                <a:latin typeface="Microsoft Sans Serif"/>
                <a:cs typeface="Microsoft Sans Serif"/>
              </a:rPr>
              <a:t> </a:t>
            </a:r>
            <a:r>
              <a:rPr sz="900" dirty="0">
                <a:latin typeface="Microsoft Sans Serif"/>
                <a:cs typeface="Microsoft Sans Serif"/>
              </a:rPr>
              <a:t>by</a:t>
            </a:r>
            <a:r>
              <a:rPr sz="900" spc="20" dirty="0">
                <a:latin typeface="Microsoft Sans Serif"/>
                <a:cs typeface="Microsoft Sans Serif"/>
              </a:rPr>
              <a:t> </a:t>
            </a:r>
            <a:r>
              <a:rPr sz="900" spc="-10" dirty="0">
                <a:latin typeface="Microsoft Sans Serif"/>
                <a:cs typeface="Microsoft Sans Serif"/>
              </a:rPr>
              <a:t>Unknown</a:t>
            </a:r>
            <a:r>
              <a:rPr sz="900" spc="-114" dirty="0">
                <a:latin typeface="Microsoft Sans Serif"/>
                <a:cs typeface="Microsoft Sans Serif"/>
              </a:rPr>
              <a:t> </a:t>
            </a:r>
            <a:r>
              <a:rPr sz="900" dirty="0">
                <a:latin typeface="Microsoft Sans Serif"/>
                <a:cs typeface="Microsoft Sans Serif"/>
              </a:rPr>
              <a:t>Author</a:t>
            </a:r>
            <a:r>
              <a:rPr sz="900" spc="-75" dirty="0">
                <a:latin typeface="Microsoft Sans Serif"/>
                <a:cs typeface="Microsoft Sans Serif"/>
              </a:rPr>
              <a:t> </a:t>
            </a:r>
            <a:r>
              <a:rPr sz="900" dirty="0">
                <a:latin typeface="Microsoft Sans Serif"/>
                <a:cs typeface="Microsoft Sans Serif"/>
              </a:rPr>
              <a:t>is</a:t>
            </a:r>
            <a:r>
              <a:rPr sz="900" spc="-30" dirty="0">
                <a:latin typeface="Microsoft Sans Serif"/>
                <a:cs typeface="Microsoft Sans Serif"/>
              </a:rPr>
              <a:t> </a:t>
            </a:r>
            <a:r>
              <a:rPr sz="900" dirty="0">
                <a:latin typeface="Microsoft Sans Serif"/>
                <a:cs typeface="Microsoft Sans Serif"/>
              </a:rPr>
              <a:t>licensed</a:t>
            </a:r>
            <a:r>
              <a:rPr sz="900" spc="-65" dirty="0">
                <a:latin typeface="Microsoft Sans Serif"/>
                <a:cs typeface="Microsoft Sans Serif"/>
              </a:rPr>
              <a:t> </a:t>
            </a:r>
            <a:r>
              <a:rPr sz="900" dirty="0">
                <a:latin typeface="Microsoft Sans Serif"/>
                <a:cs typeface="Microsoft Sans Serif"/>
              </a:rPr>
              <a:t>under</a:t>
            </a:r>
            <a:r>
              <a:rPr sz="900" spc="30" dirty="0">
                <a:latin typeface="Microsoft Sans Serif"/>
                <a:cs typeface="Microsoft Sans Serif"/>
              </a:rPr>
              <a:t> </a:t>
            </a:r>
            <a:r>
              <a:rPr sz="900" u="sng" dirty="0">
                <a:solidFill>
                  <a:srgbClr val="0460C1"/>
                </a:solidFill>
                <a:uFill>
                  <a:solidFill>
                    <a:srgbClr val="0460C1"/>
                  </a:solidFill>
                </a:uFill>
                <a:latin typeface="Microsoft Sans Serif"/>
                <a:cs typeface="Microsoft Sans Serif"/>
                <a:hlinkClick r:id="rId4"/>
              </a:rPr>
              <a:t>CC</a:t>
            </a:r>
            <a:r>
              <a:rPr sz="900" u="sng" spc="-20" dirty="0">
                <a:solidFill>
                  <a:srgbClr val="0460C1"/>
                </a:solidFill>
                <a:uFill>
                  <a:solidFill>
                    <a:srgbClr val="0460C1"/>
                  </a:solidFill>
                </a:uFill>
                <a:latin typeface="Microsoft Sans Serif"/>
                <a:cs typeface="Microsoft Sans Serif"/>
                <a:hlinkClick r:id="rId4"/>
              </a:rPr>
              <a:t> </a:t>
            </a:r>
            <a:r>
              <a:rPr sz="900" u="sng" spc="-10" dirty="0">
                <a:solidFill>
                  <a:srgbClr val="0460C1"/>
                </a:solidFill>
                <a:uFill>
                  <a:solidFill>
                    <a:srgbClr val="0460C1"/>
                  </a:solidFill>
                </a:uFill>
                <a:latin typeface="Microsoft Sans Serif"/>
                <a:cs typeface="Microsoft Sans Serif"/>
                <a:hlinkClick r:id="rId4"/>
              </a:rPr>
              <a:t>BY-</a:t>
            </a:r>
            <a:r>
              <a:rPr sz="900" u="sng" spc="-25" dirty="0">
                <a:solidFill>
                  <a:srgbClr val="0460C1"/>
                </a:solidFill>
                <a:uFill>
                  <a:solidFill>
                    <a:srgbClr val="0460C1"/>
                  </a:solidFill>
                </a:uFill>
                <a:latin typeface="Microsoft Sans Serif"/>
                <a:cs typeface="Microsoft Sans Serif"/>
                <a:hlinkClick r:id="rId4"/>
              </a:rPr>
              <a:t>NC</a:t>
            </a:r>
            <a:endParaRPr sz="9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9788" rIns="0" bIns="0" rtlCol="0">
            <a:spAutoFit/>
          </a:bodyPr>
          <a:lstStyle/>
          <a:p>
            <a:pPr marL="1448435">
              <a:lnSpc>
                <a:spcPct val="100000"/>
              </a:lnSpc>
              <a:spcBef>
                <a:spcPts val="100"/>
              </a:spcBef>
            </a:pPr>
            <a:r>
              <a:rPr dirty="0"/>
              <a:t>SAMPLE</a:t>
            </a:r>
            <a:r>
              <a:rPr spc="-210" dirty="0"/>
              <a:t> </a:t>
            </a:r>
            <a:r>
              <a:rPr spc="55" dirty="0"/>
              <a:t>OUTPUT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38400" y="1487424"/>
            <a:ext cx="6233159" cy="369417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1129518" y="6392671"/>
            <a:ext cx="19113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sz="1200" spc="-35" dirty="0">
                <a:solidFill>
                  <a:srgbClr val="868686"/>
                </a:solidFill>
                <a:latin typeface="Calibri"/>
                <a:cs typeface="Calibri"/>
              </a:rPr>
              <a:t>9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0657" rIns="0" bIns="0" rtlCol="0">
            <a:spAutoFit/>
          </a:bodyPr>
          <a:lstStyle/>
          <a:p>
            <a:pPr marL="199707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Conclusion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129518" y="6392671"/>
            <a:ext cx="19113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sz="1200" spc="-35" dirty="0">
                <a:solidFill>
                  <a:srgbClr val="868686"/>
                </a:solidFill>
                <a:latin typeface="Calibri"/>
                <a:cs typeface="Calibri"/>
              </a:rPr>
              <a:t>10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235" indent="-343535">
              <a:lnSpc>
                <a:spcPct val="100000"/>
              </a:lnSpc>
              <a:spcBef>
                <a:spcPts val="100"/>
              </a:spcBef>
              <a:buFont typeface="Wingdings"/>
              <a:buChar char=""/>
              <a:tabLst>
                <a:tab pos="356235" algn="l"/>
              </a:tabLst>
            </a:pPr>
            <a:r>
              <a:rPr dirty="0"/>
              <a:t>Built</a:t>
            </a:r>
            <a:r>
              <a:rPr spc="-25" dirty="0"/>
              <a:t> </a:t>
            </a:r>
            <a:r>
              <a:rPr dirty="0"/>
              <a:t>a complete</a:t>
            </a:r>
            <a:r>
              <a:rPr spc="-30" dirty="0"/>
              <a:t> </a:t>
            </a:r>
            <a:r>
              <a:rPr dirty="0"/>
              <a:t>pipeline:</a:t>
            </a:r>
            <a:r>
              <a:rPr spc="-30" dirty="0"/>
              <a:t> </a:t>
            </a:r>
            <a:r>
              <a:rPr dirty="0"/>
              <a:t>Assembly</a:t>
            </a:r>
            <a:r>
              <a:rPr spc="-5" dirty="0"/>
              <a:t> </a:t>
            </a:r>
            <a:r>
              <a:rPr dirty="0"/>
              <a:t>→</a:t>
            </a:r>
            <a:r>
              <a:rPr spc="-10" dirty="0"/>
              <a:t> </a:t>
            </a:r>
            <a:r>
              <a:rPr dirty="0"/>
              <a:t>Compiler</a:t>
            </a:r>
            <a:r>
              <a:rPr spc="-45" dirty="0"/>
              <a:t> </a:t>
            </a:r>
            <a:r>
              <a:rPr dirty="0"/>
              <a:t>→</a:t>
            </a:r>
            <a:r>
              <a:rPr spc="-5" dirty="0"/>
              <a:t> </a:t>
            </a:r>
            <a:r>
              <a:rPr dirty="0"/>
              <a:t>Execution</a:t>
            </a:r>
            <a:r>
              <a:rPr spc="-30" dirty="0"/>
              <a:t> </a:t>
            </a:r>
            <a:r>
              <a:rPr spc="-10" dirty="0"/>
              <a:t>Engine</a:t>
            </a:r>
          </a:p>
          <a:p>
            <a:pPr>
              <a:lnSpc>
                <a:spcPct val="100000"/>
              </a:lnSpc>
              <a:spcBef>
                <a:spcPts val="120"/>
              </a:spcBef>
              <a:buFont typeface="Wingdings"/>
              <a:buChar char=""/>
            </a:pPr>
            <a:endParaRPr spc="-10" dirty="0"/>
          </a:p>
          <a:p>
            <a:pPr marL="356235" indent="-343535">
              <a:lnSpc>
                <a:spcPct val="100000"/>
              </a:lnSpc>
              <a:buFont typeface="Wingdings"/>
              <a:buChar char=""/>
              <a:tabLst>
                <a:tab pos="356235" algn="l"/>
              </a:tabLst>
            </a:pPr>
            <a:r>
              <a:rPr dirty="0"/>
              <a:t>Demonstrated</a:t>
            </a:r>
            <a:r>
              <a:rPr spc="-40" dirty="0"/>
              <a:t> </a:t>
            </a:r>
            <a:r>
              <a:rPr dirty="0"/>
              <a:t>practical</a:t>
            </a:r>
            <a:r>
              <a:rPr spc="10" dirty="0"/>
              <a:t> </a:t>
            </a:r>
            <a:r>
              <a:rPr dirty="0"/>
              <a:t>understanding</a:t>
            </a:r>
            <a:r>
              <a:rPr spc="-20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compilers</a:t>
            </a:r>
            <a:r>
              <a:rPr spc="-40" dirty="0"/>
              <a:t> </a:t>
            </a:r>
            <a:r>
              <a:rPr dirty="0"/>
              <a:t>and</a:t>
            </a:r>
            <a:r>
              <a:rPr spc="-25" dirty="0"/>
              <a:t> </a:t>
            </a:r>
            <a:r>
              <a:rPr dirty="0"/>
              <a:t>CPU</a:t>
            </a:r>
            <a:r>
              <a:rPr spc="-25" dirty="0"/>
              <a:t> </a:t>
            </a:r>
            <a:r>
              <a:rPr spc="-10" dirty="0"/>
              <a:t>design</a:t>
            </a:r>
          </a:p>
          <a:p>
            <a:pPr>
              <a:lnSpc>
                <a:spcPct val="100000"/>
              </a:lnSpc>
              <a:spcBef>
                <a:spcPts val="125"/>
              </a:spcBef>
              <a:buFont typeface="Wingdings"/>
              <a:buChar char=""/>
            </a:pPr>
            <a:endParaRPr spc="-10" dirty="0"/>
          </a:p>
          <a:p>
            <a:pPr marL="356235" indent="-343535">
              <a:lnSpc>
                <a:spcPct val="100000"/>
              </a:lnSpc>
              <a:buFont typeface="Wingdings"/>
              <a:buChar char=""/>
              <a:tabLst>
                <a:tab pos="356235" algn="l"/>
              </a:tabLst>
            </a:pPr>
            <a:r>
              <a:rPr dirty="0"/>
              <a:t>Provides</a:t>
            </a:r>
            <a:r>
              <a:rPr spc="-40" dirty="0"/>
              <a:t> </a:t>
            </a:r>
            <a:r>
              <a:rPr dirty="0"/>
              <a:t>educational</a:t>
            </a:r>
            <a:r>
              <a:rPr spc="-20" dirty="0"/>
              <a:t> </a:t>
            </a:r>
            <a:r>
              <a:rPr dirty="0"/>
              <a:t>value</a:t>
            </a:r>
            <a:r>
              <a:rPr spc="-35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dirty="0"/>
              <a:t>foundation</a:t>
            </a:r>
            <a:r>
              <a:rPr spc="-25" dirty="0"/>
              <a:t> </a:t>
            </a:r>
            <a:r>
              <a:rPr dirty="0"/>
              <a:t>for</a:t>
            </a:r>
            <a:r>
              <a:rPr spc="-25" dirty="0"/>
              <a:t> </a:t>
            </a:r>
            <a:r>
              <a:rPr dirty="0"/>
              <a:t>further</a:t>
            </a:r>
            <a:r>
              <a:rPr spc="-20" dirty="0"/>
              <a:t> </a:t>
            </a:r>
            <a:r>
              <a:rPr spc="-10" dirty="0"/>
              <a:t>extensions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89758" y="1892249"/>
            <a:ext cx="6370955" cy="15811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0" spc="385" dirty="0"/>
              <a:t>THANK</a:t>
            </a:r>
            <a:r>
              <a:rPr sz="8000" spc="310" dirty="0"/>
              <a:t> </a:t>
            </a:r>
            <a:r>
              <a:rPr sz="8000" spc="-25" dirty="0"/>
              <a:t>YOU</a:t>
            </a:r>
            <a:endParaRPr sz="8000" dirty="0"/>
          </a:p>
          <a:p>
            <a:pPr marL="1866264">
              <a:lnSpc>
                <a:spcPct val="100000"/>
              </a:lnSpc>
              <a:spcBef>
                <a:spcPts val="1330"/>
              </a:spcBef>
            </a:pPr>
            <a:endParaRPr sz="1100" dirty="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129518" y="6392671"/>
            <a:ext cx="19113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r>
              <a:rPr sz="1200" spc="-35" dirty="0">
                <a:solidFill>
                  <a:srgbClr val="868686"/>
                </a:solidFill>
                <a:latin typeface="Calibri"/>
                <a:cs typeface="Calibri"/>
              </a:rPr>
              <a:t>11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460C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